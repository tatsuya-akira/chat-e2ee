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embeddedFontLst>
    <p:embeddedFont>
      <p:font typeface="Inter" panose="020B0604020202020204" charset="0"/>
      <p:regular r:id="rId14"/>
      <p:bold r:id="rId15"/>
      <p:italic r:id="rId16"/>
      <p:boldItalic r:id="rId17"/>
    </p:embeddedFont>
    <p:embeddedFont>
      <p:font typeface="Inter SemiBold" panose="020B0604020202020204" charset="0"/>
      <p:regular r:id="rId18"/>
      <p:bold r:id="rId19"/>
      <p:italic r:id="rId20"/>
      <p:boldItalic r:id="rId21"/>
    </p:embeddedFont>
    <p:embeddedFont>
      <p:font typeface="Space Grotesk" panose="020B0604020202020204" charset="0"/>
      <p:regular r:id="rId22"/>
      <p:bold r:id="rId23"/>
    </p:embeddedFont>
    <p:embeddedFont>
      <p:font typeface="Space Grotesk Medium" panose="020B0604020202020204" charset="0"/>
      <p:regular r:id="rId24"/>
      <p:bold r:id="rId25"/>
    </p:embeddedFont>
    <p:embeddedFont>
      <p:font typeface="Space Grotesk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156E357-AB2A-4833-A2B2-ECA89CCFF6B9}">
  <a:tblStyle styleId="{1156E357-AB2A-4833-A2B2-ECA89CCFF6B9}"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198" y="9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6.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7" name="Google Shape;117;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3" name="Google Shape;13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e607ade59b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 name="Google Shape;140;g3e607ade59b_0_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e607ade59b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e607ade59b_0_1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e607ade59b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 name="Google Shape;154;g3e607ade59b_0_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1" name="Google Shape;161;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5" name="Google Shape;20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5" name="Google Shape;85;p13"/>
          <p:cNvSpPr txBox="1"/>
          <p:nvPr/>
        </p:nvSpPr>
        <p:spPr>
          <a:xfrm>
            <a:off x="3200638" y="2571898"/>
            <a:ext cx="5790723" cy="75426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en-US" sz="5400" b="1" i="0" u="none" strike="noStrike" cap="none">
                <a:solidFill>
                  <a:srgbClr val="06B6D4"/>
                </a:solidFill>
                <a:latin typeface="Space Grotesk"/>
                <a:ea typeface="Space Grotesk"/>
                <a:cs typeface="Space Grotesk"/>
                <a:sym typeface="Space Grotesk"/>
              </a:rPr>
              <a:t>Hermes</a:t>
            </a:r>
            <a:r>
              <a:rPr lang="en-US" sz="5400" b="1" i="0" u="none" strike="noStrike" cap="none">
                <a:solidFill>
                  <a:srgbClr val="F8FAFC"/>
                </a:solidFill>
                <a:latin typeface="Space Grotesk"/>
                <a:ea typeface="Space Grotesk"/>
                <a:cs typeface="Space Grotesk"/>
                <a:sym typeface="Space Grotesk"/>
              </a:rPr>
              <a:t> Chat App</a:t>
            </a:r>
            <a:endParaRPr/>
          </a:p>
        </p:txBody>
      </p:sp>
      <p:sp>
        <p:nvSpPr>
          <p:cNvPr id="86" name="Google Shape;86;p13"/>
          <p:cNvSpPr txBox="1"/>
          <p:nvPr/>
        </p:nvSpPr>
        <p:spPr>
          <a:xfrm>
            <a:off x="1966825" y="3554750"/>
            <a:ext cx="8533800" cy="277200"/>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a:solidFill>
                  <a:srgbClr val="94A3B8"/>
                </a:solidFill>
                <a:latin typeface="Inter"/>
                <a:ea typeface="Inter"/>
                <a:cs typeface="Inter"/>
                <a:sym typeface="Inter"/>
              </a:rPr>
              <a:t>Ứng dụng nhắn tin bảo mật Desktop với trọng tâm là Mã hóa đầu cuối (E2EE).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90"/>
        <p:cNvGrpSpPr/>
        <p:nvPr/>
      </p:nvGrpSpPr>
      <p:grpSpPr>
        <a:xfrm>
          <a:off x="0" y="0"/>
          <a:ext cx="0" cy="0"/>
          <a:chOff x="0" y="0"/>
          <a:chExt cx="0" cy="0"/>
        </a:xfrm>
      </p:grpSpPr>
      <p:pic>
        <p:nvPicPr>
          <p:cNvPr id="91" name="Google Shape;91;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92" name="Google Shape;92;p14"/>
          <p:cNvSpPr txBox="1"/>
          <p:nvPr/>
        </p:nvSpPr>
        <p:spPr>
          <a:xfrm>
            <a:off x="571500" y="571500"/>
            <a:ext cx="5550693"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06B6D4"/>
                </a:solidFill>
                <a:latin typeface="Space Grotesk SemiBold"/>
                <a:ea typeface="Space Grotesk SemiBold"/>
                <a:cs typeface="Space Grotesk SemiBold"/>
                <a:sym typeface="Space Grotesk SemiBold"/>
              </a:rPr>
              <a:t>Về Hermes</a:t>
            </a:r>
            <a:endParaRPr/>
          </a:p>
        </p:txBody>
      </p:sp>
      <p:pic>
        <p:nvPicPr>
          <p:cNvPr id="93" name="Google Shape;93;p14" descr="image.png"/>
          <p:cNvPicPr preferRelativeResize="0"/>
          <p:nvPr/>
        </p:nvPicPr>
        <p:blipFill rotWithShape="1">
          <a:blip r:embed="rId4">
            <a:alphaModFix/>
          </a:blip>
          <a:srcRect/>
          <a:stretch/>
        </p:blipFill>
        <p:spPr>
          <a:xfrm>
            <a:off x="6334125" y="0"/>
            <a:ext cx="5857875" cy="6858000"/>
          </a:xfrm>
          <a:prstGeom prst="rect">
            <a:avLst/>
          </a:prstGeom>
          <a:noFill/>
          <a:ln>
            <a:noFill/>
          </a:ln>
        </p:spPr>
      </p:pic>
      <p:sp>
        <p:nvSpPr>
          <p:cNvPr id="94" name="Google Shape;94;p14"/>
          <p:cNvSpPr txBox="1"/>
          <p:nvPr/>
        </p:nvSpPr>
        <p:spPr>
          <a:xfrm>
            <a:off x="571500" y="2595562"/>
            <a:ext cx="5550693"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0" i="0" u="none" strike="noStrike" cap="none">
                <a:solidFill>
                  <a:srgbClr val="F8FAFC"/>
                </a:solidFill>
                <a:latin typeface="Space Grotesk Medium"/>
                <a:ea typeface="Space Grotesk Medium"/>
                <a:cs typeface="Space Grotesk Medium"/>
                <a:sym typeface="Space Grotesk Medium"/>
              </a:rPr>
              <a:t>Bảo mật từ thiết bị của bạn</a:t>
            </a:r>
            <a:endParaRPr/>
          </a:p>
        </p:txBody>
      </p:sp>
      <p:sp>
        <p:nvSpPr>
          <p:cNvPr id="95" name="Google Shape;95;p14"/>
          <p:cNvSpPr txBox="1"/>
          <p:nvPr/>
        </p:nvSpPr>
        <p:spPr>
          <a:xfrm>
            <a:off x="571500" y="3090862"/>
            <a:ext cx="5286375"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Hermes Chat App được xây dựng với mục tiêu cung cấp một nền tảng giao tiếp an toàn tuyệt đối. Mọi dữ liệu được bảo vệ ngay từ phần cứng cá nhân của bạn.</a:t>
            </a:r>
            <a:endParaRPr/>
          </a:p>
        </p:txBody>
      </p:sp>
      <p:sp>
        <p:nvSpPr>
          <p:cNvPr id="96" name="Google Shape;96;p14"/>
          <p:cNvSpPr txBox="1"/>
          <p:nvPr/>
        </p:nvSpPr>
        <p:spPr>
          <a:xfrm>
            <a:off x="571538" y="4157662"/>
            <a:ext cx="5286300" cy="133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Dự án áp dụng các chuẩn mật mã học hiện đại như RSA, AES-GCM và cơ chế Key Wrapping (PBKDF2) để đảm bảo không một ai - kể cả quản trị viên hệ thống hay máy chủ - có thể giải mã và đọc được nội dung tin nhắn của bạn.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00"/>
        <p:cNvGrpSpPr/>
        <p:nvPr/>
      </p:nvGrpSpPr>
      <p:grpSpPr>
        <a:xfrm>
          <a:off x="0" y="0"/>
          <a:ext cx="0" cy="0"/>
          <a:chOff x="0" y="0"/>
          <a:chExt cx="0" cy="0"/>
        </a:xfrm>
      </p:grpSpPr>
      <p:pic>
        <p:nvPicPr>
          <p:cNvPr id="101" name="Google Shape;101;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02" name="Google Shape;102;p15"/>
          <p:cNvSpPr/>
          <p:nvPr/>
        </p:nvSpPr>
        <p:spPr>
          <a:xfrm>
            <a:off x="1333500" y="1854587"/>
            <a:ext cx="9525000" cy="990600"/>
          </a:xfrm>
          <a:prstGeom prst="roundRect">
            <a:avLst>
              <a:gd name="adj" fmla="val 11538"/>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3" name="Google Shape;103;p15"/>
          <p:cNvSpPr txBox="1"/>
          <p:nvPr/>
        </p:nvSpPr>
        <p:spPr>
          <a:xfrm>
            <a:off x="1809750" y="2045087"/>
            <a:ext cx="8858400" cy="60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a:solidFill>
                  <a:srgbClr val="F8FAFC"/>
                </a:solidFill>
                <a:latin typeface="Inter SemiBold"/>
                <a:ea typeface="Inter SemiBold"/>
                <a:cs typeface="Inter SemiBold"/>
                <a:sym typeface="Inter SemiBold"/>
              </a:rPr>
              <a:t>Triển khai bảo mật: </a:t>
            </a:r>
            <a:r>
              <a:rPr lang="en-US" sz="1500">
                <a:solidFill>
                  <a:srgbClr val="94A3B8"/>
                </a:solidFill>
                <a:latin typeface="Inter SemiBold"/>
                <a:ea typeface="Inter SemiBold"/>
                <a:cs typeface="Inter SemiBold"/>
                <a:sym typeface="Inter SemiBold"/>
              </a:rPr>
              <a:t>Tích hợp tính năng tự hủy tin nhắn sau một khoảng thời gian, kết hợp với mã hóa đầu cuối.</a:t>
            </a:r>
            <a:endParaRPr>
              <a:solidFill>
                <a:srgbClr val="94A3B8"/>
              </a:solidFill>
            </a:endParaRPr>
          </a:p>
        </p:txBody>
      </p:sp>
      <p:sp>
        <p:nvSpPr>
          <p:cNvPr id="104" name="Google Shape;104;p15"/>
          <p:cNvSpPr/>
          <p:nvPr/>
        </p:nvSpPr>
        <p:spPr>
          <a:xfrm>
            <a:off x="1333500" y="1854587"/>
            <a:ext cx="38100" cy="9906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5" name="Google Shape;105;p15"/>
          <p:cNvSpPr/>
          <p:nvPr/>
        </p:nvSpPr>
        <p:spPr>
          <a:xfrm>
            <a:off x="1333500" y="3073787"/>
            <a:ext cx="9525000" cy="990600"/>
          </a:xfrm>
          <a:prstGeom prst="roundRect">
            <a:avLst>
              <a:gd name="adj" fmla="val 11538"/>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6" name="Google Shape;106;p15"/>
          <p:cNvSpPr txBox="1"/>
          <p:nvPr/>
        </p:nvSpPr>
        <p:spPr>
          <a:xfrm>
            <a:off x="1809750" y="3264287"/>
            <a:ext cx="8858400" cy="60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Cơ sở hạ tầng Auth an toàn:</a:t>
            </a:r>
            <a:r>
              <a:rPr lang="en-US" sz="1500" b="0" i="0" u="none" strike="noStrike" cap="none">
                <a:solidFill>
                  <a:srgbClr val="94A3B8"/>
                </a:solidFill>
                <a:latin typeface="Inter"/>
                <a:ea typeface="Inter"/>
                <a:cs typeface="Inter"/>
                <a:sym typeface="Inter"/>
              </a:rPr>
              <a:t> Tích hợp Firebase Authentication cho Đăng ký, Đăng nhập và Khôi phục mật khẩu. Đảm bảo tính danh tính người dùng.</a:t>
            </a:r>
            <a:endParaRPr/>
          </a:p>
        </p:txBody>
      </p:sp>
      <p:sp>
        <p:nvSpPr>
          <p:cNvPr id="107" name="Google Shape;107;p15"/>
          <p:cNvSpPr/>
          <p:nvPr/>
        </p:nvSpPr>
        <p:spPr>
          <a:xfrm>
            <a:off x="1333500" y="3073787"/>
            <a:ext cx="38100" cy="9906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8" name="Google Shape;108;p15"/>
          <p:cNvSpPr/>
          <p:nvPr/>
        </p:nvSpPr>
        <p:spPr>
          <a:xfrm>
            <a:off x="1333500" y="4292987"/>
            <a:ext cx="9525000" cy="990600"/>
          </a:xfrm>
          <a:prstGeom prst="roundRect">
            <a:avLst>
              <a:gd name="adj" fmla="val 11538"/>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9" name="Google Shape;109;p15"/>
          <p:cNvSpPr txBox="1"/>
          <p:nvPr/>
        </p:nvSpPr>
        <p:spPr>
          <a:xfrm>
            <a:off x="1809750" y="4483487"/>
            <a:ext cx="8858400" cy="60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Bảo toàn dữ liệu (Rollback):</a:t>
            </a:r>
            <a:r>
              <a:rPr lang="en-US" sz="1500" b="0" i="0" u="none" strike="noStrike" cap="none">
                <a:solidFill>
                  <a:srgbClr val="94A3B8"/>
                </a:solidFill>
                <a:latin typeface="Inter"/>
                <a:ea typeface="Inter"/>
                <a:cs typeface="Inter"/>
                <a:sym typeface="Inter"/>
              </a:rPr>
              <a:t> Tự động xóa user trên Firebase nếu quá trình khởi tạo khóa và lưu trữ xuống MySQL Server thất bại.</a:t>
            </a:r>
            <a:endParaRPr/>
          </a:p>
        </p:txBody>
      </p:sp>
      <p:sp>
        <p:nvSpPr>
          <p:cNvPr id="110" name="Google Shape;110;p15"/>
          <p:cNvSpPr/>
          <p:nvPr/>
        </p:nvSpPr>
        <p:spPr>
          <a:xfrm>
            <a:off x="1333500" y="4292987"/>
            <a:ext cx="38100" cy="9906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11" name="Google Shape;111;p15" descr="image.png"/>
          <p:cNvPicPr preferRelativeResize="0"/>
          <p:nvPr/>
        </p:nvPicPr>
        <p:blipFill rotWithShape="1">
          <a:blip r:embed="rId4">
            <a:alphaModFix/>
          </a:blip>
          <a:srcRect/>
          <a:stretch/>
        </p:blipFill>
        <p:spPr>
          <a:xfrm>
            <a:off x="1524000" y="2054612"/>
            <a:ext cx="257175" cy="247650"/>
          </a:xfrm>
          <a:prstGeom prst="rect">
            <a:avLst/>
          </a:prstGeom>
          <a:noFill/>
          <a:ln>
            <a:noFill/>
          </a:ln>
        </p:spPr>
      </p:pic>
      <p:pic>
        <p:nvPicPr>
          <p:cNvPr id="112" name="Google Shape;112;p15" descr="image.png"/>
          <p:cNvPicPr preferRelativeResize="0"/>
          <p:nvPr/>
        </p:nvPicPr>
        <p:blipFill rotWithShape="1">
          <a:blip r:embed="rId5">
            <a:alphaModFix/>
          </a:blip>
          <a:srcRect/>
          <a:stretch/>
        </p:blipFill>
        <p:spPr>
          <a:xfrm>
            <a:off x="1524000" y="3273812"/>
            <a:ext cx="228600" cy="247650"/>
          </a:xfrm>
          <a:prstGeom prst="rect">
            <a:avLst/>
          </a:prstGeom>
          <a:noFill/>
          <a:ln>
            <a:noFill/>
          </a:ln>
        </p:spPr>
      </p:pic>
      <p:pic>
        <p:nvPicPr>
          <p:cNvPr id="113" name="Google Shape;113;p15" descr="image.png"/>
          <p:cNvPicPr preferRelativeResize="0"/>
          <p:nvPr/>
        </p:nvPicPr>
        <p:blipFill rotWithShape="1">
          <a:blip r:embed="rId6">
            <a:alphaModFix/>
          </a:blip>
          <a:srcRect/>
          <a:stretch/>
        </p:blipFill>
        <p:spPr>
          <a:xfrm>
            <a:off x="1524000" y="4493012"/>
            <a:ext cx="200025" cy="247650"/>
          </a:xfrm>
          <a:prstGeom prst="rect">
            <a:avLst/>
          </a:prstGeom>
          <a:noFill/>
          <a:ln>
            <a:noFill/>
          </a:ln>
        </p:spPr>
      </p:pic>
      <p:sp>
        <p:nvSpPr>
          <p:cNvPr id="114" name="Google Shape;114;p15"/>
          <p:cNvSpPr txBox="1"/>
          <p:nvPr/>
        </p:nvSpPr>
        <p:spPr>
          <a:xfrm>
            <a:off x="3533775" y="509587"/>
            <a:ext cx="5380800" cy="554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a:solidFill>
                  <a:srgbClr val="06B6D4"/>
                </a:solidFill>
                <a:latin typeface="Space Grotesk SemiBold"/>
                <a:ea typeface="Space Grotesk SemiBold"/>
                <a:cs typeface="Space Grotesk SemiBold"/>
                <a:sym typeface="Space Grotesk SemiBold"/>
              </a:rPr>
              <a:t>Core Feature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18"/>
        <p:cNvGrpSpPr/>
        <p:nvPr/>
      </p:nvGrpSpPr>
      <p:grpSpPr>
        <a:xfrm>
          <a:off x="0" y="0"/>
          <a:ext cx="0" cy="0"/>
          <a:chOff x="0" y="0"/>
          <a:chExt cx="0" cy="0"/>
        </a:xfrm>
      </p:grpSpPr>
      <p:pic>
        <p:nvPicPr>
          <p:cNvPr id="119" name="Google Shape;119;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0" name="Google Shape;120;p16" descr="image.png"/>
          <p:cNvPicPr preferRelativeResize="0"/>
          <p:nvPr/>
        </p:nvPicPr>
        <p:blipFill rotWithShape="1">
          <a:blip r:embed="rId4">
            <a:alphaModFix/>
          </a:blip>
          <a:srcRect/>
          <a:stretch/>
        </p:blipFill>
        <p:spPr>
          <a:xfrm>
            <a:off x="6334125" y="2005012"/>
            <a:ext cx="5286375" cy="3810000"/>
          </a:xfrm>
          <a:prstGeom prst="rect">
            <a:avLst/>
          </a:prstGeom>
          <a:noFill/>
          <a:ln>
            <a:noFill/>
          </a:ln>
        </p:spPr>
      </p:pic>
      <p:sp>
        <p:nvSpPr>
          <p:cNvPr id="121" name="Google Shape;121;p16"/>
          <p:cNvSpPr txBox="1"/>
          <p:nvPr/>
        </p:nvSpPr>
        <p:spPr>
          <a:xfrm>
            <a:off x="571500" y="2187922"/>
            <a:ext cx="5550693"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0" i="0" u="none" strike="noStrike" cap="none">
                <a:solidFill>
                  <a:srgbClr val="F8FAFC"/>
                </a:solidFill>
                <a:latin typeface="Space Grotesk Medium"/>
                <a:ea typeface="Space Grotesk Medium"/>
                <a:cs typeface="Space Grotesk Medium"/>
                <a:sym typeface="Space Grotesk Medium"/>
              </a:rPr>
              <a:t>Bảo vệ tin nhắn thời gian thực</a:t>
            </a:r>
            <a:endParaRPr/>
          </a:p>
        </p:txBody>
      </p:sp>
      <p:sp>
        <p:nvSpPr>
          <p:cNvPr id="122" name="Google Shape;122;p16"/>
          <p:cNvSpPr txBox="1"/>
          <p:nvPr/>
        </p:nvSpPr>
        <p:spPr>
          <a:xfrm>
            <a:off x="571500" y="2683222"/>
            <a:ext cx="52863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Hermes sử dụng mô hình mã hóa lai (Hybrid Encryption) để tối ưu cả hiệu suất và tính bảo mật cao nhất:</a:t>
            </a:r>
            <a:endParaRPr/>
          </a:p>
        </p:txBody>
      </p:sp>
      <p:sp>
        <p:nvSpPr>
          <p:cNvPr id="123" name="Google Shape;123;p16"/>
          <p:cNvSpPr txBox="1"/>
          <p:nvPr/>
        </p:nvSpPr>
        <p:spPr>
          <a:xfrm>
            <a:off x="666750" y="3482369"/>
            <a:ext cx="952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94A3B8"/>
                </a:solidFill>
                <a:latin typeface="Inter"/>
                <a:ea typeface="Inter"/>
                <a:cs typeface="Inter"/>
                <a:sym typeface="Inter"/>
              </a:rPr>
              <a:t>•</a:t>
            </a:r>
            <a:endParaRPr/>
          </a:p>
        </p:txBody>
      </p:sp>
      <p:sp>
        <p:nvSpPr>
          <p:cNvPr id="124" name="Google Shape;124;p16"/>
          <p:cNvSpPr txBox="1"/>
          <p:nvPr/>
        </p:nvSpPr>
        <p:spPr>
          <a:xfrm>
            <a:off x="762000" y="3483325"/>
            <a:ext cx="5360100" cy="540300"/>
          </a:xfrm>
          <a:prstGeom prst="rect">
            <a:avLst/>
          </a:prstGeom>
          <a:noFill/>
          <a:ln>
            <a:noFill/>
          </a:ln>
        </p:spPr>
        <p:txBody>
          <a:bodyPr spcFirstLastPara="1" wrap="square" lIns="9525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94A3B8"/>
                </a:solidFill>
                <a:latin typeface="Inter"/>
                <a:ea typeface="Inter"/>
                <a:cs typeface="Inter"/>
                <a:sym typeface="Inter"/>
              </a:rPr>
              <a:t>Thuật toán RSA (2048/4096-bit):</a:t>
            </a:r>
            <a:r>
              <a:rPr lang="en-US" sz="1350" b="0" i="0" u="none" strike="noStrike" cap="none">
                <a:solidFill>
                  <a:srgbClr val="94A3B8"/>
                </a:solidFill>
                <a:latin typeface="Inter"/>
                <a:ea typeface="Inter"/>
                <a:cs typeface="Inter"/>
                <a:sym typeface="Inter"/>
              </a:rPr>
              <a:t> Sử dụng cặp Public/Private key để mã hóa và trao đổi khóa phiên một cách an toàn.</a:t>
            </a:r>
            <a:endParaRPr/>
          </a:p>
        </p:txBody>
      </p:sp>
      <p:sp>
        <p:nvSpPr>
          <p:cNvPr id="125" name="Google Shape;125;p16"/>
          <p:cNvSpPr txBox="1"/>
          <p:nvPr/>
        </p:nvSpPr>
        <p:spPr>
          <a:xfrm>
            <a:off x="666750" y="4145250"/>
            <a:ext cx="952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94A3B8"/>
                </a:solidFill>
                <a:latin typeface="Inter"/>
                <a:ea typeface="Inter"/>
                <a:cs typeface="Inter"/>
                <a:sym typeface="Inter"/>
              </a:rPr>
              <a:t>•</a:t>
            </a:r>
            <a:endParaRPr/>
          </a:p>
        </p:txBody>
      </p:sp>
      <p:sp>
        <p:nvSpPr>
          <p:cNvPr id="126" name="Google Shape;126;p16"/>
          <p:cNvSpPr txBox="1"/>
          <p:nvPr/>
        </p:nvSpPr>
        <p:spPr>
          <a:xfrm>
            <a:off x="762000" y="4146202"/>
            <a:ext cx="5095875" cy="822870"/>
          </a:xfrm>
          <a:prstGeom prst="rect">
            <a:avLst/>
          </a:prstGeom>
          <a:noFill/>
          <a:ln>
            <a:noFill/>
          </a:ln>
        </p:spPr>
        <p:txBody>
          <a:bodyPr spcFirstLastPara="1" wrap="square" lIns="9525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94A3B8"/>
                </a:solidFill>
                <a:latin typeface="Inter"/>
                <a:ea typeface="Inter"/>
                <a:cs typeface="Inter"/>
                <a:sym typeface="Inter"/>
              </a:rPr>
              <a:t>Thuật toán AES-GCM:</a:t>
            </a:r>
            <a:r>
              <a:rPr lang="en-US" sz="1350" b="0" i="0" u="none" strike="noStrike" cap="none">
                <a:solidFill>
                  <a:srgbClr val="94A3B8"/>
                </a:solidFill>
                <a:latin typeface="Inter"/>
                <a:ea typeface="Inter"/>
                <a:cs typeface="Inter"/>
                <a:sym typeface="Inter"/>
              </a:rPr>
              <a:t> Được dùng để mã hóa trực tiếp nội dung tin nhắn, đảm bảo tốc độ cao và tính toàn vẹn của dữ liệu.</a:t>
            </a:r>
            <a:endParaRPr/>
          </a:p>
        </p:txBody>
      </p:sp>
      <p:sp>
        <p:nvSpPr>
          <p:cNvPr id="127" name="Google Shape;127;p16"/>
          <p:cNvSpPr txBox="1"/>
          <p:nvPr/>
        </p:nvSpPr>
        <p:spPr>
          <a:xfrm>
            <a:off x="666750" y="5082420"/>
            <a:ext cx="952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94A3B8"/>
                </a:solidFill>
                <a:latin typeface="Inter"/>
                <a:ea typeface="Inter"/>
                <a:cs typeface="Inter"/>
                <a:sym typeface="Inter"/>
              </a:rPr>
              <a:t>•</a:t>
            </a:r>
            <a:endParaRPr/>
          </a:p>
        </p:txBody>
      </p:sp>
      <p:sp>
        <p:nvSpPr>
          <p:cNvPr id="128" name="Google Shape;128;p16"/>
          <p:cNvSpPr txBox="1"/>
          <p:nvPr/>
        </p:nvSpPr>
        <p:spPr>
          <a:xfrm>
            <a:off x="762000" y="5083375"/>
            <a:ext cx="5286300" cy="540300"/>
          </a:xfrm>
          <a:prstGeom prst="rect">
            <a:avLst/>
          </a:prstGeom>
          <a:noFill/>
          <a:ln>
            <a:noFill/>
          </a:ln>
        </p:spPr>
        <p:txBody>
          <a:bodyPr spcFirstLastPara="1" wrap="square" lIns="9525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94A3B8"/>
                </a:solidFill>
                <a:latin typeface="Inter"/>
                <a:ea typeface="Inter"/>
                <a:cs typeface="Inter"/>
                <a:sym typeface="Inter"/>
              </a:rPr>
              <a:t>Key Wrapping (PBKDF2):</a:t>
            </a:r>
            <a:r>
              <a:rPr lang="en-US" sz="1350" b="0" i="0" u="none" strike="noStrike" cap="none">
                <a:solidFill>
                  <a:srgbClr val="94A3B8"/>
                </a:solidFill>
                <a:latin typeface="Inter"/>
                <a:ea typeface="Inter"/>
                <a:cs typeface="Inter"/>
                <a:sym typeface="Inter"/>
              </a:rPr>
              <a:t> Private key được mã hóa bằng một Master Key (tạo ra từ Mật khẩu + Salt) trước khi đẩy lên CSDL.</a:t>
            </a:r>
            <a:endParaRPr/>
          </a:p>
        </p:txBody>
      </p:sp>
      <p:pic>
        <p:nvPicPr>
          <p:cNvPr id="129" name="Google Shape;129;p16" descr="image.png"/>
          <p:cNvPicPr preferRelativeResize="0"/>
          <p:nvPr/>
        </p:nvPicPr>
        <p:blipFill rotWithShape="1">
          <a:blip r:embed="rId5">
            <a:alphaModFix/>
          </a:blip>
          <a:srcRect/>
          <a:stretch/>
        </p:blipFill>
        <p:spPr>
          <a:xfrm>
            <a:off x="6343650" y="2014537"/>
            <a:ext cx="5267325" cy="3790950"/>
          </a:xfrm>
          <a:prstGeom prst="rect">
            <a:avLst/>
          </a:prstGeom>
          <a:noFill/>
          <a:ln>
            <a:noFill/>
          </a:ln>
        </p:spPr>
      </p:pic>
      <p:sp>
        <p:nvSpPr>
          <p:cNvPr id="130" name="Google Shape;130;p16"/>
          <p:cNvSpPr txBox="1"/>
          <p:nvPr/>
        </p:nvSpPr>
        <p:spPr>
          <a:xfrm>
            <a:off x="3733800" y="571500"/>
            <a:ext cx="496062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06B6D4"/>
                </a:solidFill>
                <a:latin typeface="Space Grotesk SemiBold"/>
                <a:ea typeface="Space Grotesk SemiBold"/>
                <a:cs typeface="Space Grotesk SemiBold"/>
                <a:sym typeface="Space Grotesk SemiBold"/>
              </a:rPr>
              <a:t>Mã hóa Hybrid (E2EE)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34"/>
        <p:cNvGrpSpPr/>
        <p:nvPr/>
      </p:nvGrpSpPr>
      <p:grpSpPr>
        <a:xfrm>
          <a:off x="0" y="0"/>
          <a:ext cx="0" cy="0"/>
          <a:chOff x="0" y="0"/>
          <a:chExt cx="0" cy="0"/>
        </a:xfrm>
      </p:grpSpPr>
      <p:pic>
        <p:nvPicPr>
          <p:cNvPr id="135" name="Google Shape;135;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36" name="Google Shape;136;p17"/>
          <p:cNvSpPr txBox="1"/>
          <p:nvPr/>
        </p:nvSpPr>
        <p:spPr>
          <a:xfrm>
            <a:off x="4014787" y="571500"/>
            <a:ext cx="4370546"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06B6D4"/>
                </a:solidFill>
                <a:latin typeface="Space Grotesk SemiBold"/>
                <a:ea typeface="Space Grotesk SemiBold"/>
                <a:cs typeface="Space Grotesk SemiBold"/>
                <a:sym typeface="Space Grotesk SemiBold"/>
              </a:rPr>
              <a:t>Kiến trúc Hệ thống</a:t>
            </a:r>
            <a:endParaRPr/>
          </a:p>
        </p:txBody>
      </p:sp>
      <p:pic>
        <p:nvPicPr>
          <p:cNvPr id="3" name="Picture 2">
            <a:extLst>
              <a:ext uri="{FF2B5EF4-FFF2-40B4-BE49-F238E27FC236}">
                <a16:creationId xmlns:a16="http://schemas.microsoft.com/office/drawing/2014/main" id="{A6D725C9-9F72-71BA-4D3D-872F228AF1E2}"/>
              </a:ext>
            </a:extLst>
          </p:cNvPr>
          <p:cNvPicPr>
            <a:picLocks noChangeAspect="1"/>
          </p:cNvPicPr>
          <p:nvPr/>
        </p:nvPicPr>
        <p:blipFill>
          <a:blip r:embed="rId4"/>
          <a:stretch>
            <a:fillRect/>
          </a:stretch>
        </p:blipFill>
        <p:spPr>
          <a:xfrm>
            <a:off x="3673503" y="1152525"/>
            <a:ext cx="4979832" cy="543123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41"/>
        <p:cNvGrpSpPr/>
        <p:nvPr/>
      </p:nvGrpSpPr>
      <p:grpSpPr>
        <a:xfrm>
          <a:off x="0" y="0"/>
          <a:ext cx="0" cy="0"/>
          <a:chOff x="0" y="0"/>
          <a:chExt cx="0" cy="0"/>
        </a:xfrm>
      </p:grpSpPr>
      <p:pic>
        <p:nvPicPr>
          <p:cNvPr id="142" name="Google Shape;142;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43" name="Google Shape;143;p18"/>
          <p:cNvSpPr txBox="1"/>
          <p:nvPr/>
        </p:nvSpPr>
        <p:spPr>
          <a:xfrm>
            <a:off x="4014787" y="571500"/>
            <a:ext cx="4370400" cy="554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a:solidFill>
                  <a:srgbClr val="06B6D4"/>
                </a:solidFill>
                <a:latin typeface="Space Grotesk SemiBold"/>
                <a:ea typeface="Space Grotesk SemiBold"/>
                <a:cs typeface="Space Grotesk SemiBold"/>
                <a:sym typeface="Space Grotesk SemiBold"/>
              </a:rPr>
              <a:t>Luồng mã hóa</a:t>
            </a:r>
            <a:endParaRPr/>
          </a:p>
        </p:txBody>
      </p:sp>
      <p:pic>
        <p:nvPicPr>
          <p:cNvPr id="144" name="Google Shape;144;p18" title="Crypto_flow.png"/>
          <p:cNvPicPr preferRelativeResize="0"/>
          <p:nvPr/>
        </p:nvPicPr>
        <p:blipFill>
          <a:blip r:embed="rId4">
            <a:alphaModFix/>
          </a:blip>
          <a:stretch>
            <a:fillRect/>
          </a:stretch>
        </p:blipFill>
        <p:spPr>
          <a:xfrm>
            <a:off x="2041150" y="1302050"/>
            <a:ext cx="8317676" cy="53314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48"/>
        <p:cNvGrpSpPr/>
        <p:nvPr/>
      </p:nvGrpSpPr>
      <p:grpSpPr>
        <a:xfrm>
          <a:off x="0" y="0"/>
          <a:ext cx="0" cy="0"/>
          <a:chOff x="0" y="0"/>
          <a:chExt cx="0" cy="0"/>
        </a:xfrm>
      </p:grpSpPr>
      <p:pic>
        <p:nvPicPr>
          <p:cNvPr id="149" name="Google Shape;149;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0" name="Google Shape;150;p19"/>
          <p:cNvSpPr txBox="1"/>
          <p:nvPr/>
        </p:nvSpPr>
        <p:spPr>
          <a:xfrm>
            <a:off x="4014787" y="571500"/>
            <a:ext cx="4370400" cy="554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a:solidFill>
                  <a:srgbClr val="06B6D4"/>
                </a:solidFill>
                <a:latin typeface="Space Grotesk SemiBold"/>
                <a:ea typeface="Space Grotesk SemiBold"/>
                <a:cs typeface="Space Grotesk SemiBold"/>
                <a:sym typeface="Space Grotesk SemiBold"/>
              </a:rPr>
              <a:t>Database</a:t>
            </a:r>
            <a:endParaRPr/>
          </a:p>
        </p:txBody>
      </p:sp>
      <p:pic>
        <p:nvPicPr>
          <p:cNvPr id="151" name="Google Shape;151;p19" title="Tables.png"/>
          <p:cNvPicPr preferRelativeResize="0"/>
          <p:nvPr/>
        </p:nvPicPr>
        <p:blipFill>
          <a:blip r:embed="rId4">
            <a:alphaModFix/>
          </a:blip>
          <a:stretch>
            <a:fillRect/>
          </a:stretch>
        </p:blipFill>
        <p:spPr>
          <a:xfrm>
            <a:off x="1907138" y="1308800"/>
            <a:ext cx="8377723" cy="5330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55"/>
        <p:cNvGrpSpPr/>
        <p:nvPr/>
      </p:nvGrpSpPr>
      <p:grpSpPr>
        <a:xfrm>
          <a:off x="0" y="0"/>
          <a:ext cx="0" cy="0"/>
          <a:chOff x="0" y="0"/>
          <a:chExt cx="0" cy="0"/>
        </a:xfrm>
      </p:grpSpPr>
      <p:pic>
        <p:nvPicPr>
          <p:cNvPr id="156" name="Google Shape;156;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7" name="Google Shape;157;p20"/>
          <p:cNvSpPr txBox="1"/>
          <p:nvPr/>
        </p:nvSpPr>
        <p:spPr>
          <a:xfrm>
            <a:off x="3677573" y="571500"/>
            <a:ext cx="5044800" cy="554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a:solidFill>
                  <a:srgbClr val="06B6D4"/>
                </a:solidFill>
                <a:latin typeface="Space Grotesk SemiBold"/>
                <a:ea typeface="Space Grotesk SemiBold"/>
                <a:cs typeface="Space Grotesk SemiBold"/>
                <a:sym typeface="Space Grotesk SemiBold"/>
              </a:rPr>
              <a:t>Luồng tin nhắn tự hủy</a:t>
            </a:r>
            <a:endParaRPr/>
          </a:p>
        </p:txBody>
      </p:sp>
      <p:pic>
        <p:nvPicPr>
          <p:cNvPr id="158" name="Google Shape;158;p20" title="burn-on-read_flow.png"/>
          <p:cNvPicPr preferRelativeResize="0"/>
          <p:nvPr/>
        </p:nvPicPr>
        <p:blipFill>
          <a:blip r:embed="rId4">
            <a:alphaModFix/>
          </a:blip>
          <a:stretch>
            <a:fillRect/>
          </a:stretch>
        </p:blipFill>
        <p:spPr>
          <a:xfrm>
            <a:off x="3340525" y="1191850"/>
            <a:ext cx="5718902" cy="53670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62"/>
        <p:cNvGrpSpPr/>
        <p:nvPr/>
      </p:nvGrpSpPr>
      <p:grpSpPr>
        <a:xfrm>
          <a:off x="0" y="0"/>
          <a:ext cx="0" cy="0"/>
          <a:chOff x="0" y="0"/>
          <a:chExt cx="0" cy="0"/>
        </a:xfrm>
      </p:grpSpPr>
      <p:pic>
        <p:nvPicPr>
          <p:cNvPr id="163" name="Google Shape;163;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4" name="Google Shape;164;p21" descr="image.png"/>
          <p:cNvPicPr preferRelativeResize="0"/>
          <p:nvPr/>
        </p:nvPicPr>
        <p:blipFill rotWithShape="1">
          <a:blip r:embed="rId4">
            <a:alphaModFix/>
          </a:blip>
          <a:srcRect/>
          <a:stretch/>
        </p:blipFill>
        <p:spPr>
          <a:xfrm>
            <a:off x="571500" y="1781175"/>
            <a:ext cx="3419475" cy="4257675"/>
          </a:xfrm>
          <a:prstGeom prst="rect">
            <a:avLst/>
          </a:prstGeom>
          <a:noFill/>
          <a:ln>
            <a:noFill/>
          </a:ln>
        </p:spPr>
      </p:pic>
      <p:pic>
        <p:nvPicPr>
          <p:cNvPr id="165" name="Google Shape;165;p21" descr="image.png"/>
          <p:cNvPicPr preferRelativeResize="0"/>
          <p:nvPr/>
        </p:nvPicPr>
        <p:blipFill rotWithShape="1">
          <a:blip r:embed="rId4">
            <a:alphaModFix/>
          </a:blip>
          <a:srcRect/>
          <a:stretch/>
        </p:blipFill>
        <p:spPr>
          <a:xfrm>
            <a:off x="4371975" y="1781175"/>
            <a:ext cx="3419475" cy="4257675"/>
          </a:xfrm>
          <a:prstGeom prst="rect">
            <a:avLst/>
          </a:prstGeom>
          <a:noFill/>
          <a:ln>
            <a:noFill/>
          </a:ln>
        </p:spPr>
      </p:pic>
      <p:pic>
        <p:nvPicPr>
          <p:cNvPr id="166" name="Google Shape;166;p21" descr="image.png"/>
          <p:cNvPicPr preferRelativeResize="0"/>
          <p:nvPr/>
        </p:nvPicPr>
        <p:blipFill rotWithShape="1">
          <a:blip r:embed="rId5">
            <a:alphaModFix/>
          </a:blip>
          <a:srcRect/>
          <a:stretch/>
        </p:blipFill>
        <p:spPr>
          <a:xfrm>
            <a:off x="8172450" y="1781175"/>
            <a:ext cx="3448050" cy="4257675"/>
          </a:xfrm>
          <a:prstGeom prst="rect">
            <a:avLst/>
          </a:prstGeom>
          <a:noFill/>
          <a:ln>
            <a:noFill/>
          </a:ln>
        </p:spPr>
      </p:pic>
      <p:pic>
        <p:nvPicPr>
          <p:cNvPr id="167" name="Google Shape;167;p21" descr="image.png"/>
          <p:cNvPicPr preferRelativeResize="0"/>
          <p:nvPr/>
        </p:nvPicPr>
        <p:blipFill rotWithShape="1">
          <a:blip r:embed="rId6">
            <a:alphaModFix/>
          </a:blip>
          <a:srcRect/>
          <a:stretch/>
        </p:blipFill>
        <p:spPr>
          <a:xfrm>
            <a:off x="1900237" y="2171700"/>
            <a:ext cx="762000" cy="762000"/>
          </a:xfrm>
          <a:prstGeom prst="rect">
            <a:avLst/>
          </a:prstGeom>
          <a:noFill/>
          <a:ln>
            <a:noFill/>
          </a:ln>
        </p:spPr>
      </p:pic>
      <p:sp>
        <p:nvSpPr>
          <p:cNvPr id="168" name="Google Shape;168;p21"/>
          <p:cNvSpPr txBox="1"/>
          <p:nvPr/>
        </p:nvSpPr>
        <p:spPr>
          <a:xfrm>
            <a:off x="1611153" y="3162300"/>
            <a:ext cx="1340167"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0" i="0" u="none" strike="noStrike" cap="none">
                <a:solidFill>
                  <a:srgbClr val="F8FAFC"/>
                </a:solidFill>
                <a:latin typeface="Space Grotesk Medium"/>
                <a:ea typeface="Space Grotesk Medium"/>
                <a:cs typeface="Space Grotesk Medium"/>
                <a:sym typeface="Space Grotesk Medium"/>
              </a:rPr>
              <a:t>Front-end</a:t>
            </a:r>
            <a:endParaRPr/>
          </a:p>
        </p:txBody>
      </p:sp>
      <p:sp>
        <p:nvSpPr>
          <p:cNvPr id="169" name="Google Shape;169;p21"/>
          <p:cNvSpPr txBox="1"/>
          <p:nvPr/>
        </p:nvSpPr>
        <p:spPr>
          <a:xfrm>
            <a:off x="809588" y="3810000"/>
            <a:ext cx="2943300" cy="17085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Phát triển trên nền tảng </a:t>
            </a:r>
            <a:r>
              <a:rPr lang="en-US" sz="1500" b="1" i="0" u="none" strike="noStrike" cap="none">
                <a:solidFill>
                  <a:srgbClr val="94A3B8"/>
                </a:solidFill>
                <a:latin typeface="Inter"/>
                <a:ea typeface="Inter"/>
                <a:cs typeface="Inter"/>
                <a:sym typeface="Inter"/>
              </a:rPr>
              <a:t>C# WPF</a:t>
            </a:r>
            <a:r>
              <a:rPr lang="en-US" sz="1500" b="0" i="0" u="none" strike="noStrike" cap="none">
                <a:solidFill>
                  <a:srgbClr val="94A3B8"/>
                </a:solidFill>
                <a:latin typeface="Inter"/>
                <a:ea typeface="Inter"/>
                <a:cs typeface="Inter"/>
                <a:sym typeface="Inter"/>
              </a:rPr>
              <a:t> áp dụng mẫu thiết kế </a:t>
            </a:r>
            <a:r>
              <a:rPr lang="en-US" sz="1500" b="1" i="0" u="none" strike="noStrike" cap="none">
                <a:solidFill>
                  <a:srgbClr val="94A3B8"/>
                </a:solidFill>
                <a:latin typeface="Inter"/>
                <a:ea typeface="Inter"/>
                <a:cs typeface="Inter"/>
                <a:sym typeface="Inter"/>
              </a:rPr>
              <a:t>MVVM</a:t>
            </a:r>
            <a:r>
              <a:rPr lang="en-US" sz="1500" b="0" i="0" u="none" strike="noStrike" cap="none">
                <a:solidFill>
                  <a:srgbClr val="94A3B8"/>
                </a:solidFill>
                <a:latin typeface="Inter"/>
                <a:ea typeface="Inter"/>
                <a:cs typeface="Inter"/>
                <a:sym typeface="Inter"/>
              </a:rPr>
              <a:t> (Model-View-ViewModel) đảm bảo sự tách biệt logic và UI rõ ràng.</a:t>
            </a:r>
            <a:endParaRPr/>
          </a:p>
        </p:txBody>
      </p:sp>
      <p:pic>
        <p:nvPicPr>
          <p:cNvPr id="170" name="Google Shape;170;p21" descr="image.png"/>
          <p:cNvPicPr preferRelativeResize="0"/>
          <p:nvPr/>
        </p:nvPicPr>
        <p:blipFill rotWithShape="1">
          <a:blip r:embed="rId7">
            <a:alphaModFix/>
          </a:blip>
          <a:srcRect/>
          <a:stretch/>
        </p:blipFill>
        <p:spPr>
          <a:xfrm>
            <a:off x="5700712" y="2171700"/>
            <a:ext cx="762000" cy="762000"/>
          </a:xfrm>
          <a:prstGeom prst="rect">
            <a:avLst/>
          </a:prstGeom>
          <a:noFill/>
          <a:ln>
            <a:noFill/>
          </a:ln>
        </p:spPr>
      </p:pic>
      <p:sp>
        <p:nvSpPr>
          <p:cNvPr id="171" name="Google Shape;171;p21"/>
          <p:cNvSpPr txBox="1"/>
          <p:nvPr/>
        </p:nvSpPr>
        <p:spPr>
          <a:xfrm>
            <a:off x="5436631" y="3162300"/>
            <a:ext cx="1290161"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0" i="0" u="none" strike="noStrike" cap="none">
                <a:solidFill>
                  <a:srgbClr val="F8FAFC"/>
                </a:solidFill>
                <a:latin typeface="Space Grotesk Medium"/>
                <a:ea typeface="Space Grotesk Medium"/>
                <a:cs typeface="Space Grotesk Medium"/>
                <a:sym typeface="Space Grotesk Medium"/>
              </a:rPr>
              <a:t>Back-end</a:t>
            </a:r>
            <a:endParaRPr/>
          </a:p>
        </p:txBody>
      </p:sp>
      <p:sp>
        <p:nvSpPr>
          <p:cNvPr id="172" name="Google Shape;172;p21"/>
          <p:cNvSpPr txBox="1"/>
          <p:nvPr/>
        </p:nvSpPr>
        <p:spPr>
          <a:xfrm>
            <a:off x="4762500" y="3810000"/>
            <a:ext cx="2638425" cy="15240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Sử dụng </a:t>
            </a:r>
            <a:r>
              <a:rPr lang="en-US" sz="1500" b="1" i="0" u="none" strike="noStrike" cap="none">
                <a:solidFill>
                  <a:srgbClr val="94A3B8"/>
                </a:solidFill>
                <a:latin typeface="Inter"/>
                <a:ea typeface="Inter"/>
                <a:cs typeface="Inter"/>
                <a:sym typeface="Inter"/>
              </a:rPr>
              <a:t>ASP.NET Core SignalR</a:t>
            </a:r>
            <a:r>
              <a:rPr lang="en-US" sz="1500" b="0" i="0" u="none" strike="noStrike" cap="none">
                <a:solidFill>
                  <a:srgbClr val="94A3B8"/>
                </a:solidFill>
                <a:latin typeface="Inter"/>
                <a:ea typeface="Inter"/>
                <a:cs typeface="Inter"/>
                <a:sym typeface="Inter"/>
              </a:rPr>
              <a:t> để thiết lập kết nối WebSockets hai chiều, giúp tin nhắn được push theo thời gian thực.</a:t>
            </a:r>
            <a:endParaRPr/>
          </a:p>
        </p:txBody>
      </p:sp>
      <p:pic>
        <p:nvPicPr>
          <p:cNvPr id="173" name="Google Shape;173;p21" descr="image.png"/>
          <p:cNvPicPr preferRelativeResize="0"/>
          <p:nvPr/>
        </p:nvPicPr>
        <p:blipFill rotWithShape="1">
          <a:blip r:embed="rId8">
            <a:alphaModFix/>
          </a:blip>
          <a:srcRect/>
          <a:stretch/>
        </p:blipFill>
        <p:spPr>
          <a:xfrm>
            <a:off x="9515475" y="2171700"/>
            <a:ext cx="762000" cy="762000"/>
          </a:xfrm>
          <a:prstGeom prst="rect">
            <a:avLst/>
          </a:prstGeom>
          <a:noFill/>
          <a:ln>
            <a:noFill/>
          </a:ln>
        </p:spPr>
      </p:pic>
      <p:sp>
        <p:nvSpPr>
          <p:cNvPr id="174" name="Google Shape;174;p21"/>
          <p:cNvSpPr txBox="1"/>
          <p:nvPr/>
        </p:nvSpPr>
        <p:spPr>
          <a:xfrm>
            <a:off x="9106376" y="3162300"/>
            <a:ext cx="1580197"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0" i="0" u="none" strike="noStrike" cap="none">
                <a:solidFill>
                  <a:srgbClr val="F8FAFC"/>
                </a:solidFill>
                <a:latin typeface="Space Grotesk Medium"/>
                <a:ea typeface="Space Grotesk Medium"/>
                <a:cs typeface="Space Grotesk Medium"/>
                <a:sym typeface="Space Grotesk Medium"/>
              </a:rPr>
              <a:t>Mật mã học</a:t>
            </a:r>
            <a:endParaRPr/>
          </a:p>
        </p:txBody>
      </p:sp>
      <p:sp>
        <p:nvSpPr>
          <p:cNvPr id="175" name="Google Shape;175;p21"/>
          <p:cNvSpPr txBox="1"/>
          <p:nvPr/>
        </p:nvSpPr>
        <p:spPr>
          <a:xfrm>
            <a:off x="8281425" y="3810000"/>
            <a:ext cx="3230100" cy="17085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Thư viện System.Security.Cryptography gốc của .NET để triển khai thuật toán </a:t>
            </a:r>
            <a:r>
              <a:rPr lang="en-US" sz="1500" b="1" i="0" u="none" strike="noStrike" cap="none">
                <a:solidFill>
                  <a:srgbClr val="94A3B8"/>
                </a:solidFill>
                <a:latin typeface="Inter"/>
                <a:ea typeface="Inter"/>
                <a:cs typeface="Inter"/>
                <a:sym typeface="Inter"/>
              </a:rPr>
              <a:t>RSA, AesGcm</a:t>
            </a:r>
            <a:r>
              <a:rPr lang="en-US" sz="1500" b="0" i="0" u="none" strike="noStrike" cap="none">
                <a:solidFill>
                  <a:srgbClr val="94A3B8"/>
                </a:solidFill>
                <a:latin typeface="Inter"/>
                <a:ea typeface="Inter"/>
                <a:cs typeface="Inter"/>
                <a:sym typeface="Inter"/>
              </a:rPr>
              <a:t> và dẫn xuất khóa </a:t>
            </a:r>
            <a:r>
              <a:rPr lang="en-US" sz="1500" b="1" i="0" u="none" strike="noStrike" cap="none">
                <a:solidFill>
                  <a:srgbClr val="94A3B8"/>
                </a:solidFill>
                <a:latin typeface="Inter"/>
                <a:ea typeface="Inter"/>
                <a:cs typeface="Inter"/>
                <a:sym typeface="Inter"/>
              </a:rPr>
              <a:t>Rfc2898DeriveBytes (PBKDF2)</a:t>
            </a:r>
            <a:r>
              <a:rPr lang="en-US" sz="1500" b="0" i="0" u="none" strike="noStrike" cap="none">
                <a:solidFill>
                  <a:srgbClr val="94A3B8"/>
                </a:solidFill>
                <a:latin typeface="Inter"/>
                <a:ea typeface="Inter"/>
                <a:cs typeface="Inter"/>
                <a:sym typeface="Inter"/>
              </a:rPr>
              <a:t>.</a:t>
            </a:r>
            <a:endParaRPr/>
          </a:p>
        </p:txBody>
      </p:sp>
      <p:pic>
        <p:nvPicPr>
          <p:cNvPr id="176" name="Google Shape;176;p21" descr="image.png"/>
          <p:cNvPicPr preferRelativeResize="0"/>
          <p:nvPr/>
        </p:nvPicPr>
        <p:blipFill rotWithShape="1">
          <a:blip r:embed="rId9">
            <a:alphaModFix/>
          </a:blip>
          <a:srcRect/>
          <a:stretch/>
        </p:blipFill>
        <p:spPr>
          <a:xfrm>
            <a:off x="2109787" y="2400300"/>
            <a:ext cx="342900" cy="304800"/>
          </a:xfrm>
          <a:prstGeom prst="rect">
            <a:avLst/>
          </a:prstGeom>
          <a:noFill/>
          <a:ln>
            <a:noFill/>
          </a:ln>
        </p:spPr>
      </p:pic>
      <p:pic>
        <p:nvPicPr>
          <p:cNvPr id="177" name="Google Shape;177;p21" descr="image.png"/>
          <p:cNvPicPr preferRelativeResize="0"/>
          <p:nvPr/>
        </p:nvPicPr>
        <p:blipFill rotWithShape="1">
          <a:blip r:embed="rId10">
            <a:alphaModFix/>
          </a:blip>
          <a:srcRect/>
          <a:stretch/>
        </p:blipFill>
        <p:spPr>
          <a:xfrm>
            <a:off x="5929312" y="2400300"/>
            <a:ext cx="304800" cy="304800"/>
          </a:xfrm>
          <a:prstGeom prst="rect">
            <a:avLst/>
          </a:prstGeom>
          <a:noFill/>
          <a:ln>
            <a:noFill/>
          </a:ln>
        </p:spPr>
      </p:pic>
      <p:pic>
        <p:nvPicPr>
          <p:cNvPr id="178" name="Google Shape;178;p21" descr="image.png"/>
          <p:cNvPicPr preferRelativeResize="0"/>
          <p:nvPr/>
        </p:nvPicPr>
        <p:blipFill rotWithShape="1">
          <a:blip r:embed="rId11">
            <a:alphaModFix/>
          </a:blip>
          <a:srcRect/>
          <a:stretch/>
        </p:blipFill>
        <p:spPr>
          <a:xfrm>
            <a:off x="9744075" y="2400300"/>
            <a:ext cx="304800" cy="304800"/>
          </a:xfrm>
          <a:prstGeom prst="rect">
            <a:avLst/>
          </a:prstGeom>
          <a:noFill/>
          <a:ln>
            <a:noFill/>
          </a:ln>
        </p:spPr>
      </p:pic>
      <p:sp>
        <p:nvSpPr>
          <p:cNvPr id="179" name="Google Shape;179;p21"/>
          <p:cNvSpPr txBox="1"/>
          <p:nvPr/>
        </p:nvSpPr>
        <p:spPr>
          <a:xfrm>
            <a:off x="3905250" y="571500"/>
            <a:ext cx="4600500" cy="554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a:solidFill>
                  <a:srgbClr val="06B6D4"/>
                </a:solidFill>
                <a:latin typeface="Space Grotesk SemiBold"/>
                <a:ea typeface="Space Grotesk SemiBold"/>
                <a:cs typeface="Space Grotesk SemiBold"/>
                <a:sym typeface="Space Grotesk SemiBold"/>
              </a:rPr>
              <a:t>Techstack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183"/>
        <p:cNvGrpSpPr/>
        <p:nvPr/>
      </p:nvGrpSpPr>
      <p:grpSpPr>
        <a:xfrm>
          <a:off x="0" y="0"/>
          <a:ext cx="0" cy="0"/>
          <a:chOff x="0" y="0"/>
          <a:chExt cx="0" cy="0"/>
        </a:xfrm>
      </p:grpSpPr>
      <p:pic>
        <p:nvPicPr>
          <p:cNvPr id="184" name="Google Shape;184;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5" name="Google Shape;185;p22" descr="image.png"/>
          <p:cNvPicPr preferRelativeResize="0"/>
          <p:nvPr/>
        </p:nvPicPr>
        <p:blipFill rotWithShape="1">
          <a:blip r:embed="rId4">
            <a:alphaModFix/>
          </a:blip>
          <a:srcRect/>
          <a:stretch/>
        </p:blipFill>
        <p:spPr>
          <a:xfrm>
            <a:off x="571500" y="4481512"/>
            <a:ext cx="2541240" cy="1455241"/>
          </a:xfrm>
          <a:prstGeom prst="rect">
            <a:avLst/>
          </a:prstGeom>
          <a:noFill/>
          <a:ln>
            <a:noFill/>
          </a:ln>
        </p:spPr>
      </p:pic>
      <p:pic>
        <p:nvPicPr>
          <p:cNvPr id="186" name="Google Shape;186;p22" descr="image.png"/>
          <p:cNvPicPr preferRelativeResize="0"/>
          <p:nvPr/>
        </p:nvPicPr>
        <p:blipFill rotWithShape="1">
          <a:blip r:embed="rId5">
            <a:alphaModFix/>
          </a:blip>
          <a:srcRect/>
          <a:stretch/>
        </p:blipFill>
        <p:spPr>
          <a:xfrm>
            <a:off x="3407419" y="2264271"/>
            <a:ext cx="2541240" cy="1455241"/>
          </a:xfrm>
          <a:prstGeom prst="rect">
            <a:avLst/>
          </a:prstGeom>
          <a:noFill/>
          <a:ln>
            <a:noFill/>
          </a:ln>
        </p:spPr>
      </p:pic>
      <p:pic>
        <p:nvPicPr>
          <p:cNvPr id="187" name="Google Shape;187;p22" descr="image.png"/>
          <p:cNvPicPr preferRelativeResize="0"/>
          <p:nvPr/>
        </p:nvPicPr>
        <p:blipFill rotWithShape="1">
          <a:blip r:embed="rId6">
            <a:alphaModFix/>
          </a:blip>
          <a:srcRect/>
          <a:stretch/>
        </p:blipFill>
        <p:spPr>
          <a:xfrm>
            <a:off x="6243339" y="4481512"/>
            <a:ext cx="2541240" cy="1455241"/>
          </a:xfrm>
          <a:prstGeom prst="rect">
            <a:avLst/>
          </a:prstGeom>
          <a:noFill/>
          <a:ln>
            <a:noFill/>
          </a:ln>
        </p:spPr>
      </p:pic>
      <p:pic>
        <p:nvPicPr>
          <p:cNvPr id="188" name="Google Shape;188;p22" descr="image.png"/>
          <p:cNvPicPr preferRelativeResize="0"/>
          <p:nvPr/>
        </p:nvPicPr>
        <p:blipFill rotWithShape="1">
          <a:blip r:embed="rId7">
            <a:alphaModFix/>
          </a:blip>
          <a:srcRect/>
          <a:stretch/>
        </p:blipFill>
        <p:spPr>
          <a:xfrm>
            <a:off x="9079259" y="2264271"/>
            <a:ext cx="2541240" cy="1455241"/>
          </a:xfrm>
          <a:prstGeom prst="rect">
            <a:avLst/>
          </a:prstGeom>
          <a:noFill/>
          <a:ln>
            <a:noFill/>
          </a:ln>
        </p:spPr>
      </p:pic>
      <p:sp>
        <p:nvSpPr>
          <p:cNvPr id="189" name="Google Shape;189;p22"/>
          <p:cNvSpPr/>
          <p:nvPr/>
        </p:nvSpPr>
        <p:spPr>
          <a:xfrm>
            <a:off x="571500" y="4081462"/>
            <a:ext cx="11049000" cy="381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22"/>
          <p:cNvSpPr txBox="1"/>
          <p:nvPr/>
        </p:nvSpPr>
        <p:spPr>
          <a:xfrm>
            <a:off x="717995" y="4681537"/>
            <a:ext cx="2248249" cy="2476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06B6D4"/>
                </a:solidFill>
                <a:latin typeface="Space Grotesk Medium"/>
                <a:ea typeface="Space Grotesk Medium"/>
                <a:cs typeface="Space Grotesk Medium"/>
                <a:sym typeface="Space Grotesk Medium"/>
              </a:rPr>
              <a:t>Giai đoạn 1</a:t>
            </a:r>
            <a:endParaRPr/>
          </a:p>
        </p:txBody>
      </p:sp>
      <p:sp>
        <p:nvSpPr>
          <p:cNvPr id="191" name="Google Shape;191;p22"/>
          <p:cNvSpPr txBox="1"/>
          <p:nvPr/>
        </p:nvSpPr>
        <p:spPr>
          <a:xfrm>
            <a:off x="771525" y="5005387"/>
            <a:ext cx="2141190"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Hoàn thiện UI cơ bản, tích hợp Firebase Auth và thiết kế Database Schema.</a:t>
            </a:r>
            <a:endParaRPr/>
          </a:p>
        </p:txBody>
      </p:sp>
      <p:sp>
        <p:nvSpPr>
          <p:cNvPr id="192" name="Google Shape;192;p22"/>
          <p:cNvSpPr txBox="1"/>
          <p:nvPr/>
        </p:nvSpPr>
        <p:spPr>
          <a:xfrm>
            <a:off x="3553915" y="2464296"/>
            <a:ext cx="2248249" cy="2476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06B6D4"/>
                </a:solidFill>
                <a:latin typeface="Space Grotesk Medium"/>
                <a:ea typeface="Space Grotesk Medium"/>
                <a:cs typeface="Space Grotesk Medium"/>
                <a:sym typeface="Space Grotesk Medium"/>
              </a:rPr>
              <a:t>Giai đoạn 2</a:t>
            </a:r>
            <a:endParaRPr/>
          </a:p>
        </p:txBody>
      </p:sp>
      <p:sp>
        <p:nvSpPr>
          <p:cNvPr id="193" name="Google Shape;193;p22"/>
          <p:cNvSpPr txBox="1"/>
          <p:nvPr/>
        </p:nvSpPr>
        <p:spPr>
          <a:xfrm>
            <a:off x="3607444" y="2788146"/>
            <a:ext cx="2141190"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Deploy Tailscale VPN, thiết lập SignalR Hub và chức năng Chat Real-time.</a:t>
            </a:r>
            <a:endParaRPr/>
          </a:p>
        </p:txBody>
      </p:sp>
      <p:sp>
        <p:nvSpPr>
          <p:cNvPr id="194" name="Google Shape;194;p22"/>
          <p:cNvSpPr txBox="1"/>
          <p:nvPr/>
        </p:nvSpPr>
        <p:spPr>
          <a:xfrm>
            <a:off x="6389835" y="4681537"/>
            <a:ext cx="2248249" cy="2476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06B6D4"/>
                </a:solidFill>
                <a:latin typeface="Space Grotesk Medium"/>
                <a:ea typeface="Space Grotesk Medium"/>
                <a:cs typeface="Space Grotesk Medium"/>
                <a:sym typeface="Space Grotesk Medium"/>
              </a:rPr>
              <a:t>Giai đoạn 3</a:t>
            </a:r>
            <a:endParaRPr/>
          </a:p>
        </p:txBody>
      </p:sp>
      <p:sp>
        <p:nvSpPr>
          <p:cNvPr id="195" name="Google Shape;195;p22"/>
          <p:cNvSpPr txBox="1"/>
          <p:nvPr/>
        </p:nvSpPr>
        <p:spPr>
          <a:xfrm>
            <a:off x="6389825" y="5005375"/>
            <a:ext cx="2301900" cy="775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Tích hợp Mật mã học v</a:t>
            </a:r>
            <a:r>
              <a:rPr lang="en-US" sz="1200">
                <a:solidFill>
                  <a:srgbClr val="94A3B8"/>
                </a:solidFill>
                <a:latin typeface="Inter"/>
                <a:ea typeface="Inter"/>
                <a:cs typeface="Inter"/>
                <a:sym typeface="Inter"/>
              </a:rPr>
              <a:t>à backend</a:t>
            </a:r>
            <a:r>
              <a:rPr lang="en-US" sz="1200" b="0" i="0" u="none" strike="noStrike" cap="none">
                <a:solidFill>
                  <a:srgbClr val="94A3B8"/>
                </a:solidFill>
                <a:latin typeface="Inter"/>
                <a:ea typeface="Inter"/>
                <a:cs typeface="Inter"/>
                <a:sym typeface="Inter"/>
              </a:rPr>
              <a:t>: Khởi tạo, Phân phối khóa RSA, Mã hóa AES Hybrid</a:t>
            </a:r>
            <a:endParaRPr/>
          </a:p>
        </p:txBody>
      </p:sp>
      <p:sp>
        <p:nvSpPr>
          <p:cNvPr id="196" name="Google Shape;196;p22"/>
          <p:cNvSpPr txBox="1"/>
          <p:nvPr/>
        </p:nvSpPr>
        <p:spPr>
          <a:xfrm>
            <a:off x="9225755" y="2464296"/>
            <a:ext cx="2248249" cy="2476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06B6D4"/>
                </a:solidFill>
                <a:latin typeface="Space Grotesk Medium"/>
                <a:ea typeface="Space Grotesk Medium"/>
                <a:cs typeface="Space Grotesk Medium"/>
                <a:sym typeface="Space Grotesk Medium"/>
              </a:rPr>
              <a:t>Giai đoạn 4</a:t>
            </a:r>
            <a:endParaRPr/>
          </a:p>
        </p:txBody>
      </p:sp>
      <p:sp>
        <p:nvSpPr>
          <p:cNvPr id="197" name="Google Shape;197;p22"/>
          <p:cNvSpPr txBox="1"/>
          <p:nvPr/>
        </p:nvSpPr>
        <p:spPr>
          <a:xfrm>
            <a:off x="9279284" y="2788146"/>
            <a:ext cx="2141100" cy="4803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Phát triển tính năng </a:t>
            </a:r>
            <a:r>
              <a:rPr lang="en-US" sz="1200">
                <a:solidFill>
                  <a:srgbClr val="94A3B8"/>
                </a:solidFill>
                <a:latin typeface="Inter"/>
                <a:ea typeface="Inter"/>
                <a:cs typeface="Inter"/>
                <a:sym typeface="Inter"/>
              </a:rPr>
              <a:t>tin nhắn tự hủy</a:t>
            </a:r>
            <a:endParaRPr/>
          </a:p>
        </p:txBody>
      </p:sp>
      <p:sp>
        <p:nvSpPr>
          <p:cNvPr id="198" name="Google Shape;198;p22"/>
          <p:cNvSpPr/>
          <p:nvPr/>
        </p:nvSpPr>
        <p:spPr>
          <a:xfrm>
            <a:off x="1727820" y="3986212"/>
            <a:ext cx="228600" cy="228600"/>
          </a:xfrm>
          <a:prstGeom prst="roundRect">
            <a:avLst>
              <a:gd name="adj" fmla="val 50000"/>
            </a:avLst>
          </a:prstGeom>
          <a:solidFill>
            <a:srgbClr val="0B1120"/>
          </a:solidFill>
          <a:ln w="38100" cap="flat" cmpd="sng">
            <a:solidFill>
              <a:srgbClr val="06B6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9" name="Google Shape;199;p22"/>
          <p:cNvSpPr/>
          <p:nvPr/>
        </p:nvSpPr>
        <p:spPr>
          <a:xfrm>
            <a:off x="4563740" y="3986212"/>
            <a:ext cx="228600" cy="228600"/>
          </a:xfrm>
          <a:prstGeom prst="roundRect">
            <a:avLst>
              <a:gd name="adj" fmla="val 50000"/>
            </a:avLst>
          </a:prstGeom>
          <a:solidFill>
            <a:srgbClr val="0B1120"/>
          </a:solidFill>
          <a:ln w="38100" cap="flat" cmpd="sng">
            <a:solidFill>
              <a:srgbClr val="06B6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0" name="Google Shape;200;p22"/>
          <p:cNvSpPr/>
          <p:nvPr/>
        </p:nvSpPr>
        <p:spPr>
          <a:xfrm>
            <a:off x="7399659" y="3986212"/>
            <a:ext cx="228600" cy="228600"/>
          </a:xfrm>
          <a:prstGeom prst="roundRect">
            <a:avLst>
              <a:gd name="adj" fmla="val 50000"/>
            </a:avLst>
          </a:prstGeom>
          <a:solidFill>
            <a:srgbClr val="0B1120"/>
          </a:solidFill>
          <a:ln w="38100" cap="flat" cmpd="sng">
            <a:solidFill>
              <a:srgbClr val="06B6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1" name="Google Shape;201;p22"/>
          <p:cNvSpPr/>
          <p:nvPr/>
        </p:nvSpPr>
        <p:spPr>
          <a:xfrm>
            <a:off x="10235579" y="3986212"/>
            <a:ext cx="228600" cy="228600"/>
          </a:xfrm>
          <a:prstGeom prst="roundRect">
            <a:avLst>
              <a:gd name="adj" fmla="val 50000"/>
            </a:avLst>
          </a:prstGeom>
          <a:solidFill>
            <a:srgbClr val="0B1120"/>
          </a:solidFill>
          <a:ln w="38100" cap="flat" cmpd="sng">
            <a:solidFill>
              <a:srgbClr val="06B6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2" name="Google Shape;202;p22"/>
          <p:cNvSpPr txBox="1"/>
          <p:nvPr/>
        </p:nvSpPr>
        <p:spPr>
          <a:xfrm>
            <a:off x="4076700" y="571500"/>
            <a:ext cx="424053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06B6D4"/>
                </a:solidFill>
                <a:latin typeface="Space Grotesk SemiBold"/>
                <a:ea typeface="Space Grotesk SemiBold"/>
                <a:cs typeface="Space Grotesk SemiBold"/>
                <a:sym typeface="Space Grotesk SemiBold"/>
              </a:rPr>
              <a:t>Lộ trình Phát triển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120"/>
        </a:solidFill>
        <a:effectLst/>
      </p:bgPr>
    </p:bg>
    <p:spTree>
      <p:nvGrpSpPr>
        <p:cNvPr id="1" name="Shape 206"/>
        <p:cNvGrpSpPr/>
        <p:nvPr/>
      </p:nvGrpSpPr>
      <p:grpSpPr>
        <a:xfrm>
          <a:off x="0" y="0"/>
          <a:ext cx="0" cy="0"/>
          <a:chOff x="0" y="0"/>
          <a:chExt cx="0" cy="0"/>
        </a:xfrm>
      </p:grpSpPr>
      <p:pic>
        <p:nvPicPr>
          <p:cNvPr id="207" name="Google Shape;207;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8" name="Google Shape;208;p23" descr="image.png"/>
          <p:cNvPicPr preferRelativeResize="0"/>
          <p:nvPr/>
        </p:nvPicPr>
        <p:blipFill rotWithShape="1">
          <a:blip r:embed="rId4">
            <a:alphaModFix/>
          </a:blip>
          <a:srcRect/>
          <a:stretch/>
        </p:blipFill>
        <p:spPr>
          <a:xfrm>
            <a:off x="571500" y="1834455"/>
            <a:ext cx="11049000" cy="4150965"/>
          </a:xfrm>
          <a:prstGeom prst="rect">
            <a:avLst/>
          </a:prstGeom>
          <a:noFill/>
          <a:ln>
            <a:noFill/>
          </a:ln>
        </p:spPr>
      </p:pic>
      <p:graphicFrame>
        <p:nvGraphicFramePr>
          <p:cNvPr id="209" name="Google Shape;209;p23"/>
          <p:cNvGraphicFramePr/>
          <p:nvPr/>
        </p:nvGraphicFramePr>
        <p:xfrm>
          <a:off x="581025" y="1843980"/>
          <a:ext cx="11029950" cy="4131900"/>
        </p:xfrm>
        <a:graphic>
          <a:graphicData uri="http://schemas.openxmlformats.org/drawingml/2006/table">
            <a:tbl>
              <a:tblPr firstRow="1" bandRow="1">
                <a:noFill/>
                <a:tableStyleId>{1156E357-AB2A-4833-A2B2-ECA89CCFF6B9}</a:tableStyleId>
              </a:tblPr>
              <a:tblGrid>
                <a:gridCol w="2417425">
                  <a:extLst>
                    <a:ext uri="{9D8B030D-6E8A-4147-A177-3AD203B41FA5}">
                      <a16:colId xmlns:a16="http://schemas.microsoft.com/office/drawing/2014/main" val="20000"/>
                    </a:ext>
                  </a:extLst>
                </a:gridCol>
                <a:gridCol w="6845650">
                  <a:extLst>
                    <a:ext uri="{9D8B030D-6E8A-4147-A177-3AD203B41FA5}">
                      <a16:colId xmlns:a16="http://schemas.microsoft.com/office/drawing/2014/main" val="20001"/>
                    </a:ext>
                  </a:extLst>
                </a:gridCol>
                <a:gridCol w="1766875">
                  <a:extLst>
                    <a:ext uri="{9D8B030D-6E8A-4147-A177-3AD203B41FA5}">
                      <a16:colId xmlns:a16="http://schemas.microsoft.com/office/drawing/2014/main" val="20002"/>
                    </a:ext>
                  </a:extLst>
                </a:gridCol>
              </a:tblGrid>
              <a:tr h="688650">
                <a:tc>
                  <a:txBody>
                    <a:bodyPr/>
                    <a:lstStyle/>
                    <a:p>
                      <a:pPr marL="0" marR="0" lvl="0" indent="0" algn="l" rtl="0">
                        <a:spcBef>
                          <a:spcPts val="0"/>
                        </a:spcBef>
                        <a:spcAft>
                          <a:spcPts val="0"/>
                        </a:spcAft>
                        <a:buNone/>
                      </a:pPr>
                      <a:r>
                        <a:rPr lang="en-US" sz="1350" b="0" i="0" u="none" strike="noStrike" cap="none">
                          <a:solidFill>
                            <a:srgbClr val="F8FAFC"/>
                          </a:solidFill>
                          <a:latin typeface="Space Grotesk SemiBold"/>
                          <a:ea typeface="Space Grotesk SemiBold"/>
                          <a:cs typeface="Space Grotesk SemiBold"/>
                          <a:sym typeface="Space Grotesk SemiBold"/>
                        </a:rPr>
                        <a:t>Hạng mục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None/>
                      </a:pPr>
                      <a:r>
                        <a:rPr lang="en-US" sz="1350" b="0" i="0" u="none" strike="noStrike" cap="none">
                          <a:solidFill>
                            <a:srgbClr val="F8FAFC"/>
                          </a:solidFill>
                          <a:latin typeface="Space Grotesk SemiBold"/>
                          <a:ea typeface="Space Grotesk SemiBold"/>
                          <a:cs typeface="Space Grotesk SemiBold"/>
                          <a:sym typeface="Space Grotesk SemiBold"/>
                        </a:rPr>
                        <a:t>Nhiệm vụ chi tiết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None/>
                      </a:pPr>
                      <a:r>
                        <a:rPr lang="en-US" sz="1350" b="0" i="0" u="none" strike="noStrike" cap="none">
                          <a:solidFill>
                            <a:srgbClr val="F8FAFC"/>
                          </a:solidFill>
                          <a:latin typeface="Space Grotesk SemiBold"/>
                          <a:ea typeface="Space Grotesk SemiBold"/>
                          <a:cs typeface="Space Grotesk SemiBold"/>
                          <a:sym typeface="Space Grotesk SemiBold"/>
                        </a:rPr>
                        <a:t>Trạng thái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extLst>
                  <a:ext uri="{0D108BD9-81ED-4DB2-BD59-A6C34878D82A}">
                    <a16:rowId xmlns:a16="http://schemas.microsoft.com/office/drawing/2014/main" val="10000"/>
                  </a:ext>
                </a:extLst>
              </a:tr>
              <a:tr h="688650">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Giao diện &amp; Auth</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Tích hợp Firebase Auth, Tự động Rollback, UI Đăng nhập</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88650">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Hạ tầng Server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Dựng Remote Server qua Tailscale VPN, Setup MySQL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88650">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Core Chat Logic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Thiết lập SignalR Hub, tin nhắn Real-time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688650">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Bảo mật E2EE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Khởi tạo RSA, Mã hóa AES Hybrid, Key Wrapping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688650">
                <a:tc>
                  <a:txBody>
                    <a:bodyPr/>
                    <a:lstStyle/>
                    <a:p>
                      <a:pPr marL="0" marR="0" lvl="0" indent="0" algn="l" rtl="0">
                        <a:spcBef>
                          <a:spcPts val="0"/>
                        </a:spcBef>
                        <a:spcAft>
                          <a:spcPts val="0"/>
                        </a:spcAft>
                        <a:buNone/>
                      </a:pPr>
                      <a:r>
                        <a:rPr lang="en-US" sz="1500">
                          <a:solidFill>
                            <a:srgbClr val="94A3B8"/>
                          </a:solidFill>
                          <a:latin typeface="Inter"/>
                          <a:ea typeface="Inter"/>
                          <a:cs typeface="Inter"/>
                          <a:sym typeface="Inter"/>
                        </a:rPr>
                        <a:t>Tin nhắn tự hủy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94A3B8"/>
                          </a:solidFill>
                          <a:latin typeface="Inter"/>
                          <a:ea typeface="Inter"/>
                          <a:cs typeface="Inter"/>
                          <a:sym typeface="Inter"/>
                        </a:rPr>
                        <a:t>Thiết lập</a:t>
                      </a:r>
                      <a:r>
                        <a:rPr lang="en-US" sz="1500">
                          <a:solidFill>
                            <a:srgbClr val="94A3B8"/>
                          </a:solidFill>
                          <a:latin typeface="Inter"/>
                          <a:ea typeface="Inter"/>
                          <a:cs typeface="Inter"/>
                          <a:sym typeface="Inter"/>
                        </a:rPr>
                        <a:t> thời gian tự hủy của tin nhắn, tính năng tự hủy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10" name="Google Shape;210;p23"/>
          <p:cNvSpPr/>
          <p:nvPr/>
        </p:nvSpPr>
        <p:spPr>
          <a:xfrm>
            <a:off x="581025" y="2494508"/>
            <a:ext cx="241741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1" name="Google Shape;211;p23"/>
          <p:cNvSpPr/>
          <p:nvPr/>
        </p:nvSpPr>
        <p:spPr>
          <a:xfrm>
            <a:off x="2998440" y="2494508"/>
            <a:ext cx="684564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2" name="Google Shape;212;p23"/>
          <p:cNvSpPr/>
          <p:nvPr/>
        </p:nvSpPr>
        <p:spPr>
          <a:xfrm>
            <a:off x="9844087" y="2494508"/>
            <a:ext cx="176688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3" name="Google Shape;213;p23"/>
          <p:cNvSpPr/>
          <p:nvPr/>
        </p:nvSpPr>
        <p:spPr>
          <a:xfrm>
            <a:off x="581025" y="3189833"/>
            <a:ext cx="241741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4" name="Google Shape;214;p23"/>
          <p:cNvSpPr/>
          <p:nvPr/>
        </p:nvSpPr>
        <p:spPr>
          <a:xfrm>
            <a:off x="2998440" y="3189833"/>
            <a:ext cx="684564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5" name="Google Shape;215;p23"/>
          <p:cNvSpPr/>
          <p:nvPr/>
        </p:nvSpPr>
        <p:spPr>
          <a:xfrm>
            <a:off x="9844087" y="3189833"/>
            <a:ext cx="176688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6" name="Google Shape;216;p23"/>
          <p:cNvSpPr/>
          <p:nvPr/>
        </p:nvSpPr>
        <p:spPr>
          <a:xfrm>
            <a:off x="581025" y="3885158"/>
            <a:ext cx="241741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7" name="Google Shape;217;p23"/>
          <p:cNvSpPr/>
          <p:nvPr/>
        </p:nvSpPr>
        <p:spPr>
          <a:xfrm>
            <a:off x="2998440" y="3885158"/>
            <a:ext cx="684564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8" name="Google Shape;218;p23"/>
          <p:cNvSpPr/>
          <p:nvPr/>
        </p:nvSpPr>
        <p:spPr>
          <a:xfrm>
            <a:off x="9844087" y="3885158"/>
            <a:ext cx="176688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9" name="Google Shape;219;p23"/>
          <p:cNvSpPr/>
          <p:nvPr/>
        </p:nvSpPr>
        <p:spPr>
          <a:xfrm>
            <a:off x="581025" y="4580483"/>
            <a:ext cx="241741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0" name="Google Shape;220;p23"/>
          <p:cNvSpPr/>
          <p:nvPr/>
        </p:nvSpPr>
        <p:spPr>
          <a:xfrm>
            <a:off x="2998440" y="4580483"/>
            <a:ext cx="684564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p23"/>
          <p:cNvSpPr/>
          <p:nvPr/>
        </p:nvSpPr>
        <p:spPr>
          <a:xfrm>
            <a:off x="9844087" y="4580483"/>
            <a:ext cx="176688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2" name="Google Shape;222;p23"/>
          <p:cNvSpPr/>
          <p:nvPr/>
        </p:nvSpPr>
        <p:spPr>
          <a:xfrm>
            <a:off x="581025" y="5275808"/>
            <a:ext cx="241741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3" name="Google Shape;223;p23"/>
          <p:cNvSpPr/>
          <p:nvPr/>
        </p:nvSpPr>
        <p:spPr>
          <a:xfrm>
            <a:off x="2998440" y="5275808"/>
            <a:ext cx="684564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23"/>
          <p:cNvSpPr/>
          <p:nvPr/>
        </p:nvSpPr>
        <p:spPr>
          <a:xfrm>
            <a:off x="9844087" y="5275808"/>
            <a:ext cx="176688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25" name="Google Shape;225;p23" descr="image.png"/>
          <p:cNvPicPr preferRelativeResize="0"/>
          <p:nvPr/>
        </p:nvPicPr>
        <p:blipFill rotWithShape="1">
          <a:blip r:embed="rId5">
            <a:alphaModFix/>
          </a:blip>
          <a:srcRect/>
          <a:stretch/>
        </p:blipFill>
        <p:spPr>
          <a:xfrm>
            <a:off x="10072687" y="2727870"/>
            <a:ext cx="942975" cy="276225"/>
          </a:xfrm>
          <a:prstGeom prst="rect">
            <a:avLst/>
          </a:prstGeom>
          <a:noFill/>
          <a:ln>
            <a:noFill/>
          </a:ln>
        </p:spPr>
      </p:pic>
      <p:pic>
        <p:nvPicPr>
          <p:cNvPr id="226" name="Google Shape;226;p23" descr="image.png"/>
          <p:cNvPicPr preferRelativeResize="0"/>
          <p:nvPr/>
        </p:nvPicPr>
        <p:blipFill rotWithShape="1">
          <a:blip r:embed="rId5">
            <a:alphaModFix/>
          </a:blip>
          <a:srcRect/>
          <a:stretch/>
        </p:blipFill>
        <p:spPr>
          <a:xfrm>
            <a:off x="10072687" y="3423195"/>
            <a:ext cx="942975" cy="276225"/>
          </a:xfrm>
          <a:prstGeom prst="rect">
            <a:avLst/>
          </a:prstGeom>
          <a:noFill/>
          <a:ln>
            <a:noFill/>
          </a:ln>
        </p:spPr>
      </p:pic>
      <p:pic>
        <p:nvPicPr>
          <p:cNvPr id="227" name="Google Shape;227;p23" descr="image.png"/>
          <p:cNvPicPr preferRelativeResize="0"/>
          <p:nvPr/>
        </p:nvPicPr>
        <p:blipFill rotWithShape="1">
          <a:blip r:embed="rId6">
            <a:alphaModFix/>
          </a:blip>
          <a:srcRect/>
          <a:stretch/>
        </p:blipFill>
        <p:spPr>
          <a:xfrm>
            <a:off x="10072687" y="4118520"/>
            <a:ext cx="990600" cy="276225"/>
          </a:xfrm>
          <a:prstGeom prst="rect">
            <a:avLst/>
          </a:prstGeom>
          <a:noFill/>
          <a:ln>
            <a:noFill/>
          </a:ln>
        </p:spPr>
      </p:pic>
      <p:pic>
        <p:nvPicPr>
          <p:cNvPr id="228" name="Google Shape;228;p23" descr="image.png"/>
          <p:cNvPicPr preferRelativeResize="0"/>
          <p:nvPr/>
        </p:nvPicPr>
        <p:blipFill rotWithShape="1">
          <a:blip r:embed="rId7">
            <a:alphaModFix/>
          </a:blip>
          <a:srcRect/>
          <a:stretch/>
        </p:blipFill>
        <p:spPr>
          <a:xfrm>
            <a:off x="10072687" y="4813845"/>
            <a:ext cx="990600" cy="276225"/>
          </a:xfrm>
          <a:prstGeom prst="rect">
            <a:avLst/>
          </a:prstGeom>
          <a:noFill/>
          <a:ln>
            <a:noFill/>
          </a:ln>
        </p:spPr>
      </p:pic>
      <p:pic>
        <p:nvPicPr>
          <p:cNvPr id="229" name="Google Shape;229;p23" descr="image.png"/>
          <p:cNvPicPr preferRelativeResize="0"/>
          <p:nvPr/>
        </p:nvPicPr>
        <p:blipFill rotWithShape="1">
          <a:blip r:embed="rId8">
            <a:alphaModFix/>
          </a:blip>
          <a:srcRect/>
          <a:stretch/>
        </p:blipFill>
        <p:spPr>
          <a:xfrm>
            <a:off x="10072687" y="5509170"/>
            <a:ext cx="981075" cy="276225"/>
          </a:xfrm>
          <a:prstGeom prst="rect">
            <a:avLst/>
          </a:prstGeom>
          <a:noFill/>
          <a:ln>
            <a:noFill/>
          </a:ln>
        </p:spPr>
      </p:pic>
      <p:sp>
        <p:nvSpPr>
          <p:cNvPr id="230" name="Google Shape;230;p23"/>
          <p:cNvSpPr txBox="1"/>
          <p:nvPr/>
        </p:nvSpPr>
        <p:spPr>
          <a:xfrm>
            <a:off x="3819525" y="571500"/>
            <a:ext cx="4780597"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06B6D4"/>
                </a:solidFill>
                <a:latin typeface="Space Grotesk SemiBold"/>
                <a:ea typeface="Space Grotesk SemiBold"/>
                <a:cs typeface="Space Grotesk SemiBold"/>
                <a:sym typeface="Space Grotesk SemiBold"/>
              </a:rPr>
              <a:t>Trạng thái Công việc</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592</Words>
  <Application>Microsoft Office PowerPoint</Application>
  <PresentationFormat>Widescreen</PresentationFormat>
  <Paragraphs>53</Paragraphs>
  <Slides>11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Space Grotesk SemiBold</vt:lpstr>
      <vt:lpstr>Inter SemiBold</vt:lpstr>
      <vt:lpstr>Inter</vt:lpstr>
      <vt:lpstr>Arial</vt:lpstr>
      <vt:lpstr>Space Grotesk Medium</vt:lpstr>
      <vt:lpstr>Space Grotesk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Phạm Nhật Quang</cp:lastModifiedBy>
  <cp:revision>1</cp:revision>
  <dcterms:modified xsi:type="dcterms:W3CDTF">2026-05-07T06:49:43Z</dcterms:modified>
</cp:coreProperties>
</file>
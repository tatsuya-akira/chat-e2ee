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0" r:id="rId6"/>
    <p:sldId id="262" r:id="rId7"/>
    <p:sldId id="261" r:id="rId8"/>
    <p:sldId id="259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Space Grotesk" panose="020B0604020202020204" charset="0"/>
      <p:regular r:id="rId23"/>
      <p:bold r:id="rId24"/>
    </p:embeddedFont>
    <p:embeddedFont>
      <p:font typeface="Space Grotesk Medium" panose="020B0604020202020204" charset="0"/>
      <p:regular r:id="rId25"/>
      <p:bold r:id="rId26"/>
    </p:embeddedFont>
    <p:embeddedFont>
      <p:font typeface="Space Grotesk SemiBold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56E357-AB2A-4833-A2B2-ECA89CCFF6B9}">
  <a:tblStyle styleId="{1156E357-AB2A-4833-A2B2-ECA89CCFF6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877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607ade59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e607ade59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607ade59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e607ade59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607ade59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e607ade59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00638" y="2571898"/>
            <a:ext cx="5790723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Hermes</a:t>
            </a: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Chat App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66825" y="3554750"/>
            <a:ext cx="8533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Ứng dụng nhắn tin bảo mật Desktop với trọng tâm là Mã hóa đầu cuối (E2EE).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571500"/>
            <a:ext cx="555069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Về Hermes</a:t>
            </a:r>
            <a:endParaRPr/>
          </a:p>
        </p:txBody>
      </p:sp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59556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Bảo mật từ thiết bị của bạn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0908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Hermes Chat App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xây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với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mục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tiêu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cấp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một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nền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tảng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giao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tuyệt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đối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Mọi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vệ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ngay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từ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phần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cứng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cá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nhân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của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bạn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38" y="4157662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án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áp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chuẩn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mật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mã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học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hiện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đại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như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RSA, AES-GCM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cơ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chế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Key Wrapping (PBKDF2)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đảm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một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ai -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kể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cả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quản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trị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viên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thống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hay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máy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chủ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có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thể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giải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mã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đọc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nội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dung tin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nhắn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của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bạn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1333500" y="1854587"/>
            <a:ext cx="9525000" cy="9906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809750" y="2045087"/>
            <a:ext cx="885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Triển khai bảo mật: </a:t>
            </a:r>
            <a:r>
              <a:rPr lang="en-US" sz="15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Tích hợp tính năng tự hủy tin nhắn sau một khoảng thời gian, kết hợp với mã hóa đầu cuối.</a:t>
            </a:r>
            <a:endParaRPr>
              <a:solidFill>
                <a:srgbClr val="94A3B8"/>
              </a:solidFill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333500" y="1854587"/>
            <a:ext cx="38100" cy="990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333500" y="3073787"/>
            <a:ext cx="9525000" cy="9906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809750" y="3264287"/>
            <a:ext cx="885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Cơ sở hạ tầng Auth an toàn: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Tích hợp Firebase Authentication cho Đăng ký, Đăng nhập và Khôi phục mật khẩu. Đảm bảo tính danh tính người dùng.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1333500" y="3073787"/>
            <a:ext cx="38100" cy="990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1333500" y="4292987"/>
            <a:ext cx="9525000" cy="9906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809750" y="4483487"/>
            <a:ext cx="885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Bảo toàn dữ liệu (Rollback):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Tự động xóa user trên Firebase nếu quá trình khởi tạo khóa và lưu trữ xuống MySQL Server thất bại.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1333500" y="4292987"/>
            <a:ext cx="38100" cy="990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20546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0" y="32738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0" y="44930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3533775" y="509587"/>
            <a:ext cx="538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Core Feature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854200" y="1154174"/>
            <a:ext cx="8858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1"/>
                </a:solidFill>
              </a:rPr>
              <a:t>Cung cấp cho ứng dụng của bạn một số phương pháp xác thực thông qua email, mật khẩu, số điện thoải, tài khoản Google, tài khoản Facebook… </a:t>
            </a:r>
            <a:endParaRPr lang="en-US" sz="2000" dirty="0">
              <a:solidFill>
                <a:schemeClr val="bg1"/>
              </a:solidFill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Dễ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dàng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xây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dựng</a:t>
            </a:r>
            <a:r>
              <a:rPr lang="en-US" sz="2000" dirty="0">
                <a:solidFill>
                  <a:schemeClr val="bg1"/>
                </a:solidFill>
              </a:rPr>
              <a:t> login </a:t>
            </a:r>
            <a:r>
              <a:rPr lang="en-US" sz="2000" dirty="0" err="1">
                <a:solidFill>
                  <a:schemeClr val="bg1"/>
                </a:solidFill>
              </a:rPr>
              <a:t>mà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không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cần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sử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dụng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liệu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đăng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ký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riêng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4" name="Google Shape;114;p15"/>
          <p:cNvSpPr txBox="1"/>
          <p:nvPr/>
        </p:nvSpPr>
        <p:spPr>
          <a:xfrm>
            <a:off x="3533775" y="509587"/>
            <a:ext cx="538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Firebase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0A1346-9ABF-1B4A-9017-5A909C80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340" y="3022352"/>
            <a:ext cx="6230219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52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4014787" y="571500"/>
            <a:ext cx="437054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Kiến trúc Hệ thống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131281-BA0E-CCC4-BB49-C788B4C44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388" y="1152525"/>
            <a:ext cx="5225223" cy="5698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4014787" y="571500"/>
            <a:ext cx="437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Database</a:t>
            </a:r>
            <a:endParaRPr/>
          </a:p>
        </p:txBody>
      </p:sp>
      <p:pic>
        <p:nvPicPr>
          <p:cNvPr id="151" name="Google Shape;151;p19" title="Tab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138" y="1308800"/>
            <a:ext cx="8377723" cy="53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4014787" y="571500"/>
            <a:ext cx="437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Luồng mã hóa</a:t>
            </a:r>
            <a:endParaRPr/>
          </a:p>
        </p:txBody>
      </p:sp>
      <p:pic>
        <p:nvPicPr>
          <p:cNvPr id="144" name="Google Shape;144;p18" title="Crypto_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1150" y="1302050"/>
            <a:ext cx="8317676" cy="533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50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218792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Bảo vệ tin nhắn thời gian thực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68322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Hermes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mô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hình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mã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hóa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(Hybrid Encryption)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tối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ưu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cả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hiệu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suất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mật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nhất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666750" y="348236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3483325"/>
            <a:ext cx="53601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toán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RSA (2048/4096-bit):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cặp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Public/Private key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mã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hóa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đổi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khóa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phiên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một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cách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666750" y="414525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4146202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toán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AES-GCM: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dùng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mã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hóa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trực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nội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dung tin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nhắn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đảm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tốc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vẹn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của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666750" y="508242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5083375"/>
            <a:ext cx="5286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Key Wrapping (PBKDF2):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Private key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mã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hóa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bằng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một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Master Key (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tạo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từ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Mật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khẩu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+ Salt)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trước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đẩy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CSDL.</a:t>
            </a:r>
            <a:endParaRPr dirty="0"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145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3733800" y="571500"/>
            <a:ext cx="496062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Mã hóa Hybrid (E2EE)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3677573" y="571500"/>
            <a:ext cx="504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Luồng tin nhắn tự hủy</a:t>
            </a:r>
            <a:endParaRPr/>
          </a:p>
        </p:txBody>
      </p:sp>
      <p:pic>
        <p:nvPicPr>
          <p:cNvPr id="158" name="Google Shape;158;p20" title="burn-on-read_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0525" y="1191850"/>
            <a:ext cx="5718902" cy="53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1175"/>
            <a:ext cx="3419475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1975" y="1781175"/>
            <a:ext cx="3419475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2450" y="1781175"/>
            <a:ext cx="3448050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00237" y="21717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1611153" y="3162300"/>
            <a:ext cx="134016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Front-end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809588" y="3810000"/>
            <a:ext cx="2943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Phát triển trên nền tảng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C# WPF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áp dụng mẫu thiết kế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MVVM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(Model-View-ViewModel) đảm bảo sự tách biệt logic và UI rõ ràng.</a:t>
            </a:r>
            <a:endParaRPr/>
          </a:p>
        </p:txBody>
      </p:sp>
      <p:pic>
        <p:nvPicPr>
          <p:cNvPr id="170" name="Google Shape;17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00712" y="21717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436631" y="3162300"/>
            <a:ext cx="129016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Back-end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4762500" y="3810000"/>
            <a:ext cx="26384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ASP.NET Core </a:t>
            </a:r>
            <a:r>
              <a:rPr lang="en-US" sz="1500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SignalR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thiết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lập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kết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nối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WebSockets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chiều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giúp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tin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nhắn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push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thời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thực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73" name="Google Shape;17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15475" y="21717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9106376" y="3162300"/>
            <a:ext cx="15801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Mật mã học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8281425" y="3810000"/>
            <a:ext cx="3230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Thư viện System.Security.Cryptography gốc của .NET để triển khai thuật toán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RSA, AesGcm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và dẫn xuất khóa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Rfc2898DeriveBytes (PBKDF2)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76" name="Google Shape;17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09787" y="240030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29312" y="24003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44075" y="24003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3905250" y="571500"/>
            <a:ext cx="460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Techstack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81512"/>
            <a:ext cx="2541240" cy="145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2264271"/>
            <a:ext cx="2541240" cy="145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339" y="4481512"/>
            <a:ext cx="2541240" cy="145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9259" y="2264271"/>
            <a:ext cx="2541240" cy="145524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/>
          <p:nvPr/>
        </p:nvSpPr>
        <p:spPr>
          <a:xfrm>
            <a:off x="571500" y="4081462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717995" y="4681537"/>
            <a:ext cx="224824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Giai đoạn 1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771525" y="5005387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Hoàn thiện UI cơ bản, tích hợp Firebase Auth và thiết kế Database Schema.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3553915" y="2464296"/>
            <a:ext cx="224824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Giai đoạn 2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3607444" y="2788146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Deploy Tailscale VPN, thiết lập SignalR Hub và chức năng Chat Real-time.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6389835" y="4681537"/>
            <a:ext cx="224824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Giai đoạn 3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6389825" y="5005375"/>
            <a:ext cx="23019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Tích hợp Mật mã học v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à backend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Khởi tạo, Phân phối khóa RSA, Mã hóa AES Hybrid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9225755" y="2464296"/>
            <a:ext cx="224824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Giai đoạn 4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9279284" y="2788146"/>
            <a:ext cx="2141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Phát triển tính năng 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tin nhắn tự hủy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1727820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4563740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7399659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10235579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4076700" y="571500"/>
            <a:ext cx="424053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Lộ trình Phát triển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4455"/>
            <a:ext cx="11049000" cy="41509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3"/>
          <p:cNvGraphicFramePr/>
          <p:nvPr/>
        </p:nvGraphicFramePr>
        <p:xfrm>
          <a:off x="581025" y="1843980"/>
          <a:ext cx="11029950" cy="4131900"/>
        </p:xfrm>
        <a:graphic>
          <a:graphicData uri="http://schemas.openxmlformats.org/drawingml/2006/table">
            <a:tbl>
              <a:tblPr firstRow="1" bandRow="1">
                <a:noFill/>
                <a:tableStyleId>{1156E357-AB2A-4833-A2B2-ECA89CCFF6B9}</a:tableStyleId>
              </a:tblPr>
              <a:tblGrid>
                <a:gridCol w="241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Hạng mục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Nhiệm vụ chi tiết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Trạng thái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Giao diện &amp; Auth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Tích hợp Firebase Auth, Tự động Rollback, UI Đăng nhập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Hạ tầng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Dựng Remote Server qua Tailscale VPN, Setup MySQL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Chat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Thiết lập SignalR Hub, tin nhắn Real-time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Bảo mật E2EE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Khởi tạo RSA, Mã hóa AES Hybrid, Key Wrapping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Tin nhắn tự hủy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Thiết lập</a:t>
                      </a:r>
                      <a:r>
                        <a:rPr lang="en-US" sz="150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thời gian tự hủy của tin nhắn, tính năng tự hủy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0" name="Google Shape;210;p23"/>
          <p:cNvSpPr/>
          <p:nvPr/>
        </p:nvSpPr>
        <p:spPr>
          <a:xfrm>
            <a:off x="581025" y="2494508"/>
            <a:ext cx="24174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2998440" y="2494508"/>
            <a:ext cx="684564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9844087" y="2494508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81025" y="3189833"/>
            <a:ext cx="24174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998440" y="3189833"/>
            <a:ext cx="684564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9844087" y="3189833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81025" y="3885158"/>
            <a:ext cx="24174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2998440" y="3885158"/>
            <a:ext cx="684564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9844087" y="3885158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81025" y="4580483"/>
            <a:ext cx="24174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998440" y="4580483"/>
            <a:ext cx="684564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9844087" y="4580483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81025" y="5275808"/>
            <a:ext cx="24174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2998440" y="5275808"/>
            <a:ext cx="684564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9844087" y="5275808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72687" y="2727870"/>
            <a:ext cx="9429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72687" y="3423195"/>
            <a:ext cx="9429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6" y="4815644"/>
            <a:ext cx="9906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3819525" y="571500"/>
            <a:ext cx="47805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Trạng thái Công việc</a:t>
            </a:r>
            <a:endParaRPr/>
          </a:p>
        </p:txBody>
      </p:sp>
      <p:pic>
        <p:nvPicPr>
          <p:cNvPr id="2" name="Google Shape;226;p23" descr="image.png">
            <a:extLst>
              <a:ext uri="{FF2B5EF4-FFF2-40B4-BE49-F238E27FC236}">
                <a16:creationId xmlns:a16="http://schemas.microsoft.com/office/drawing/2014/main" id="{81DDE576-C1DE-434D-2265-209989D400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72686" y="4099470"/>
            <a:ext cx="9429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8;p23" descr="image.png">
            <a:extLst>
              <a:ext uri="{FF2B5EF4-FFF2-40B4-BE49-F238E27FC236}">
                <a16:creationId xmlns:a16="http://schemas.microsoft.com/office/drawing/2014/main" id="{8B2113A2-27BD-6097-B68D-B3738DA65B7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6" y="5469272"/>
            <a:ext cx="9906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640</Words>
  <Application>Microsoft Office PowerPoint</Application>
  <PresentationFormat>Widescreen</PresentationFormat>
  <Paragraphs>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Space Grotesk Medium</vt:lpstr>
      <vt:lpstr>Calibri</vt:lpstr>
      <vt:lpstr>Inter</vt:lpstr>
      <vt:lpstr>Space Grotesk</vt:lpstr>
      <vt:lpstr>Space Grotesk SemiBold</vt:lpstr>
      <vt:lpstr>Inter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Phạm Nguyễn Thành Long</cp:lastModifiedBy>
  <cp:revision>2</cp:revision>
  <dcterms:modified xsi:type="dcterms:W3CDTF">2026-05-07T07:19:07Z</dcterms:modified>
</cp:coreProperties>
</file>
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6858000" cx="12192000"/>
  <p:notesSz cx="6858000" cy="9144000"/>
  <p:embeddedFontLst>
    <p:embeddedFont>
      <p:font typeface="Inter SemiBold"/>
      <p:regular r:id="rId18"/>
      <p:bold r:id="rId19"/>
      <p:italic r:id="rId20"/>
      <p:boldItalic r:id="rId21"/>
    </p:embeddedFont>
    <p:embeddedFont>
      <p:font typeface="Inter"/>
      <p:regular r:id="rId22"/>
      <p:bold r:id="rId23"/>
      <p:italic r:id="rId24"/>
      <p:boldItalic r:id="rId25"/>
    </p:embeddedFont>
    <p:embeddedFont>
      <p:font typeface="Space Grotesk Medium"/>
      <p:regular r:id="rId26"/>
      <p:bold r:id="rId27"/>
    </p:embeddedFont>
    <p:embeddedFont>
      <p:font typeface="Space Grotesk SemiBold"/>
      <p:regular r:id="rId28"/>
      <p:bold r:id="rId29"/>
    </p:embeddedFont>
    <p:embeddedFont>
      <p:font typeface="Space Grotesk"/>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56E357-AB2A-4833-A2B2-ECA89CCFF6B9}">
  <a:tblStyle styleId="{1156E357-AB2A-4833-A2B2-ECA89CCFF6B9}"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SemiBold-italic.fntdata"/><Relationship Id="rId22" Type="http://schemas.openxmlformats.org/officeDocument/2006/relationships/font" Target="fonts/Inter-regular.fntdata"/><Relationship Id="rId21" Type="http://schemas.openxmlformats.org/officeDocument/2006/relationships/font" Target="fonts/InterSemiBold-boldItalic.fntdata"/><Relationship Id="rId24" Type="http://schemas.openxmlformats.org/officeDocument/2006/relationships/font" Target="fonts/Inter-italic.fntdata"/><Relationship Id="rId23" Type="http://schemas.openxmlformats.org/officeDocument/2006/relationships/font" Target="fonts/Int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SpaceGroteskMedium-regular.fntdata"/><Relationship Id="rId25" Type="http://schemas.openxmlformats.org/officeDocument/2006/relationships/font" Target="fonts/Inter-boldItalic.fntdata"/><Relationship Id="rId28" Type="http://schemas.openxmlformats.org/officeDocument/2006/relationships/font" Target="fonts/SpaceGroteskSemiBold-regular.fntdata"/><Relationship Id="rId27" Type="http://schemas.openxmlformats.org/officeDocument/2006/relationships/font" Target="fonts/SpaceGroteskMedium-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SpaceGrotesk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paceGrotesk-bold.fntdata"/><Relationship Id="rId30" Type="http://schemas.openxmlformats.org/officeDocument/2006/relationships/font" Target="fonts/SpaceGrotesk-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InterSemiBold-bold.fntdata"/><Relationship Id="rId18" Type="http://schemas.openxmlformats.org/officeDocument/2006/relationships/font" Target="fonts/Inter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607ade59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e607ade59b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e607ade59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e607ade59b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607ade59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g3e607ade59b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6.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3.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0.png"/><Relationship Id="rId11" Type="http://schemas.openxmlformats.org/officeDocument/2006/relationships/image" Target="../media/image28.png"/><Relationship Id="rId10" Type="http://schemas.openxmlformats.org/officeDocument/2006/relationships/image" Target="../media/image16.png"/><Relationship Id="rId9"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24.png"/><Relationship Id="rId7" Type="http://schemas.openxmlformats.org/officeDocument/2006/relationships/image" Target="../media/image12.png"/><Relationship Id="rId8"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19.png"/><Relationship Id="rId7"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23.png"/><Relationship Id="rId5" Type="http://schemas.openxmlformats.org/officeDocument/2006/relationships/image" Target="../media/image20.png"/><Relationship Id="rId6" Type="http://schemas.openxmlformats.org/officeDocument/2006/relationships/image" Target="../media/image22.png"/><Relationship Id="rId7" Type="http://schemas.openxmlformats.org/officeDocument/2006/relationships/image" Target="../media/image25.png"/><Relationship Id="rId8"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3200638" y="2571898"/>
            <a:ext cx="5790723"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06B6D4"/>
                </a:solidFill>
                <a:latin typeface="Space Grotesk"/>
                <a:ea typeface="Space Grotesk"/>
                <a:cs typeface="Space Grotesk"/>
                <a:sym typeface="Space Grotesk"/>
              </a:rPr>
              <a:t>Hermes</a:t>
            </a:r>
            <a:r>
              <a:rPr b="1" i="0" lang="en-US" sz="5400" u="none" cap="none" strike="noStrike">
                <a:solidFill>
                  <a:srgbClr val="F8FAFC"/>
                </a:solidFill>
                <a:latin typeface="Space Grotesk"/>
                <a:ea typeface="Space Grotesk"/>
                <a:cs typeface="Space Grotesk"/>
                <a:sym typeface="Space Grotesk"/>
              </a:rPr>
              <a:t> Chat App</a:t>
            </a:r>
            <a:endParaRPr/>
          </a:p>
        </p:txBody>
      </p:sp>
      <p:sp>
        <p:nvSpPr>
          <p:cNvPr id="86" name="Google Shape;86;p13"/>
          <p:cNvSpPr txBox="1"/>
          <p:nvPr/>
        </p:nvSpPr>
        <p:spPr>
          <a:xfrm>
            <a:off x="1966825" y="3554750"/>
            <a:ext cx="85338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94A3B8"/>
                </a:solidFill>
                <a:latin typeface="Inter"/>
                <a:ea typeface="Inter"/>
                <a:cs typeface="Inter"/>
                <a:sym typeface="Inter"/>
              </a:rPr>
              <a:t>Ứng dụng nhắn tin bảo mật Desktop với trọng tâm là Mã hóa đầu cuối (E2EE).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 name="Google Shape;92;p14"/>
          <p:cNvSpPr txBox="1"/>
          <p:nvPr/>
        </p:nvSpPr>
        <p:spPr>
          <a:xfrm>
            <a:off x="571500" y="571500"/>
            <a:ext cx="5550693" cy="581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06B6D4"/>
                </a:solidFill>
                <a:latin typeface="Space Grotesk SemiBold"/>
                <a:ea typeface="Space Grotesk SemiBold"/>
                <a:cs typeface="Space Grotesk SemiBold"/>
                <a:sym typeface="Space Grotesk SemiBold"/>
              </a:rPr>
              <a:t>Về Hermes</a:t>
            </a:r>
            <a:endParaRPr/>
          </a:p>
        </p:txBody>
      </p:sp>
      <p:pic>
        <p:nvPicPr>
          <p:cNvPr descr="image.png" id="93" name="Google Shape;93;p14"/>
          <p:cNvPicPr preferRelativeResize="0"/>
          <p:nvPr/>
        </p:nvPicPr>
        <p:blipFill rotWithShape="1">
          <a:blip r:embed="rId4">
            <a:alphaModFix/>
          </a:blip>
          <a:srcRect b="0" l="0" r="0" t="0"/>
          <a:stretch/>
        </p:blipFill>
        <p:spPr>
          <a:xfrm>
            <a:off x="6334125" y="0"/>
            <a:ext cx="5857875" cy="6858000"/>
          </a:xfrm>
          <a:prstGeom prst="rect">
            <a:avLst/>
          </a:prstGeom>
          <a:noFill/>
          <a:ln>
            <a:noFill/>
          </a:ln>
        </p:spPr>
      </p:pic>
      <p:sp>
        <p:nvSpPr>
          <p:cNvPr id="94" name="Google Shape;94;p14"/>
          <p:cNvSpPr txBox="1"/>
          <p:nvPr/>
        </p:nvSpPr>
        <p:spPr>
          <a:xfrm>
            <a:off x="571500" y="259556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8FAFC"/>
                </a:solidFill>
                <a:latin typeface="Space Grotesk Medium"/>
                <a:ea typeface="Space Grotesk Medium"/>
                <a:cs typeface="Space Grotesk Medium"/>
                <a:sym typeface="Space Grotesk Medium"/>
              </a:rPr>
              <a:t>Bảo mật từ thiết bị của bạn</a:t>
            </a:r>
            <a:endParaRPr/>
          </a:p>
        </p:txBody>
      </p:sp>
      <p:sp>
        <p:nvSpPr>
          <p:cNvPr id="95" name="Google Shape;95;p14"/>
          <p:cNvSpPr txBox="1"/>
          <p:nvPr/>
        </p:nvSpPr>
        <p:spPr>
          <a:xfrm>
            <a:off x="571500" y="3090862"/>
            <a:ext cx="5286375"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Hermes Chat App được xây dựng với mục tiêu cung cấp một nền tảng giao tiếp an toàn tuyệt đối. Mọi dữ liệu được bảo vệ ngay từ phần cứng cá nhân của bạn.</a:t>
            </a:r>
            <a:endParaRPr/>
          </a:p>
        </p:txBody>
      </p:sp>
      <p:sp>
        <p:nvSpPr>
          <p:cNvPr id="96" name="Google Shape;96;p14"/>
          <p:cNvSpPr txBox="1"/>
          <p:nvPr/>
        </p:nvSpPr>
        <p:spPr>
          <a:xfrm>
            <a:off x="571538" y="4157662"/>
            <a:ext cx="5286300" cy="133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Dự án áp dụng các chuẩn mật mã học hiện đại như RSA, AES-GCM và cơ chế Key Wrapping (PBKDF2) để đảm bảo không một ai - kể cả quản trị viên hệ thống hay máy chủ - có thể giải mã và đọc được nội dung tin nhắn của bạn.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00" name="Shape 100"/>
        <p:cNvGrpSpPr/>
        <p:nvPr/>
      </p:nvGrpSpPr>
      <p:grpSpPr>
        <a:xfrm>
          <a:off x="0" y="0"/>
          <a:ext cx="0" cy="0"/>
          <a:chOff x="0" y="0"/>
          <a:chExt cx="0" cy="0"/>
        </a:xfrm>
      </p:grpSpPr>
      <p:pic>
        <p:nvPicPr>
          <p:cNvPr descr="image.png" id="101" name="Google Shape;101;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2" name="Google Shape;102;p15"/>
          <p:cNvSpPr/>
          <p:nvPr/>
        </p:nvSpPr>
        <p:spPr>
          <a:xfrm>
            <a:off x="1333500" y="1854587"/>
            <a:ext cx="9525000" cy="990600"/>
          </a:xfrm>
          <a:prstGeom prst="roundRect">
            <a:avLst>
              <a:gd fmla="val 11538"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5"/>
          <p:cNvSpPr txBox="1"/>
          <p:nvPr/>
        </p:nvSpPr>
        <p:spPr>
          <a:xfrm>
            <a:off x="1809750" y="2045087"/>
            <a:ext cx="8858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F8FAFC"/>
                </a:solidFill>
                <a:latin typeface="Inter SemiBold"/>
                <a:ea typeface="Inter SemiBold"/>
                <a:cs typeface="Inter SemiBold"/>
                <a:sym typeface="Inter SemiBold"/>
              </a:rPr>
              <a:t>Triển khai bảo mật: </a:t>
            </a:r>
            <a:r>
              <a:rPr lang="en-US" sz="1500">
                <a:solidFill>
                  <a:srgbClr val="94A3B8"/>
                </a:solidFill>
                <a:latin typeface="Inter SemiBold"/>
                <a:ea typeface="Inter SemiBold"/>
                <a:cs typeface="Inter SemiBold"/>
                <a:sym typeface="Inter SemiBold"/>
              </a:rPr>
              <a:t>Tích hợp tính năng tự hủy tin nhắn sau một khoảng thời gian, kết hợp với mã hóa đầu cuối.</a:t>
            </a:r>
            <a:endParaRPr>
              <a:solidFill>
                <a:srgbClr val="94A3B8"/>
              </a:solidFill>
            </a:endParaRPr>
          </a:p>
        </p:txBody>
      </p:sp>
      <p:sp>
        <p:nvSpPr>
          <p:cNvPr id="104" name="Google Shape;104;p15"/>
          <p:cNvSpPr/>
          <p:nvPr/>
        </p:nvSpPr>
        <p:spPr>
          <a:xfrm>
            <a:off x="1333500" y="1854587"/>
            <a:ext cx="38100" cy="990600"/>
          </a:xfrm>
          <a:prstGeom prst="rect">
            <a:avLst/>
          </a:prstGeom>
          <a:solidFill>
            <a:srgbClr val="06B6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 name="Google Shape;105;p15"/>
          <p:cNvSpPr/>
          <p:nvPr/>
        </p:nvSpPr>
        <p:spPr>
          <a:xfrm>
            <a:off x="1333500" y="3073787"/>
            <a:ext cx="9525000" cy="990600"/>
          </a:xfrm>
          <a:prstGeom prst="roundRect">
            <a:avLst>
              <a:gd fmla="val 11538"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 name="Google Shape;106;p15"/>
          <p:cNvSpPr txBox="1"/>
          <p:nvPr/>
        </p:nvSpPr>
        <p:spPr>
          <a:xfrm>
            <a:off x="1809750" y="3264287"/>
            <a:ext cx="8858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8FAFC"/>
                </a:solidFill>
                <a:latin typeface="Inter SemiBold"/>
                <a:ea typeface="Inter SemiBold"/>
                <a:cs typeface="Inter SemiBold"/>
                <a:sym typeface="Inter SemiBold"/>
              </a:rPr>
              <a:t>Cơ sở hạ tầng Auth an toàn:</a:t>
            </a:r>
            <a:r>
              <a:rPr b="0" i="0" lang="en-US" sz="1500" u="none" cap="none" strike="noStrike">
                <a:solidFill>
                  <a:srgbClr val="94A3B8"/>
                </a:solidFill>
                <a:latin typeface="Inter"/>
                <a:ea typeface="Inter"/>
                <a:cs typeface="Inter"/>
                <a:sym typeface="Inter"/>
              </a:rPr>
              <a:t> Tích hợp Firebase Authentication cho Đăng ký, Đăng nhập và Khôi phục mật khẩu. Đảm bảo tính danh tính người dùng.</a:t>
            </a:r>
            <a:endParaRPr/>
          </a:p>
        </p:txBody>
      </p:sp>
      <p:sp>
        <p:nvSpPr>
          <p:cNvPr id="107" name="Google Shape;107;p15"/>
          <p:cNvSpPr/>
          <p:nvPr/>
        </p:nvSpPr>
        <p:spPr>
          <a:xfrm>
            <a:off x="1333500" y="3073787"/>
            <a:ext cx="38100" cy="990600"/>
          </a:xfrm>
          <a:prstGeom prst="rect">
            <a:avLst/>
          </a:prstGeom>
          <a:solidFill>
            <a:srgbClr val="06B6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 name="Google Shape;108;p15"/>
          <p:cNvSpPr/>
          <p:nvPr/>
        </p:nvSpPr>
        <p:spPr>
          <a:xfrm>
            <a:off x="1333500" y="4292987"/>
            <a:ext cx="9525000" cy="990600"/>
          </a:xfrm>
          <a:prstGeom prst="roundRect">
            <a:avLst>
              <a:gd fmla="val 11538" name="adj"/>
            </a:avLst>
          </a:prstGeom>
          <a:solidFill>
            <a:srgbClr val="1E293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 name="Google Shape;109;p15"/>
          <p:cNvSpPr txBox="1"/>
          <p:nvPr/>
        </p:nvSpPr>
        <p:spPr>
          <a:xfrm>
            <a:off x="1809750" y="4483487"/>
            <a:ext cx="88584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F8FAFC"/>
                </a:solidFill>
                <a:latin typeface="Inter SemiBold"/>
                <a:ea typeface="Inter SemiBold"/>
                <a:cs typeface="Inter SemiBold"/>
                <a:sym typeface="Inter SemiBold"/>
              </a:rPr>
              <a:t>Bảo toàn dữ liệu (Rollback):</a:t>
            </a:r>
            <a:r>
              <a:rPr b="0" i="0" lang="en-US" sz="1500" u="none" cap="none" strike="noStrike">
                <a:solidFill>
                  <a:srgbClr val="94A3B8"/>
                </a:solidFill>
                <a:latin typeface="Inter"/>
                <a:ea typeface="Inter"/>
                <a:cs typeface="Inter"/>
                <a:sym typeface="Inter"/>
              </a:rPr>
              <a:t> Tự động xóa user trên Firebase nếu quá trình khởi tạo khóa và lưu trữ xuống MySQL Server thất bại.</a:t>
            </a:r>
            <a:endParaRPr/>
          </a:p>
        </p:txBody>
      </p:sp>
      <p:sp>
        <p:nvSpPr>
          <p:cNvPr id="110" name="Google Shape;110;p15"/>
          <p:cNvSpPr/>
          <p:nvPr/>
        </p:nvSpPr>
        <p:spPr>
          <a:xfrm>
            <a:off x="1333500" y="4292987"/>
            <a:ext cx="38100" cy="990600"/>
          </a:xfrm>
          <a:prstGeom prst="rect">
            <a:avLst/>
          </a:prstGeom>
          <a:solidFill>
            <a:srgbClr val="06B6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11" name="Google Shape;111;p15"/>
          <p:cNvPicPr preferRelativeResize="0"/>
          <p:nvPr/>
        </p:nvPicPr>
        <p:blipFill rotWithShape="1">
          <a:blip r:embed="rId4">
            <a:alphaModFix/>
          </a:blip>
          <a:srcRect b="0" l="0" r="0" t="0"/>
          <a:stretch/>
        </p:blipFill>
        <p:spPr>
          <a:xfrm>
            <a:off x="1524000" y="2054612"/>
            <a:ext cx="257175" cy="247650"/>
          </a:xfrm>
          <a:prstGeom prst="rect">
            <a:avLst/>
          </a:prstGeom>
          <a:noFill/>
          <a:ln>
            <a:noFill/>
          </a:ln>
        </p:spPr>
      </p:pic>
      <p:pic>
        <p:nvPicPr>
          <p:cNvPr descr="image.png" id="112" name="Google Shape;112;p15"/>
          <p:cNvPicPr preferRelativeResize="0"/>
          <p:nvPr/>
        </p:nvPicPr>
        <p:blipFill rotWithShape="1">
          <a:blip r:embed="rId5">
            <a:alphaModFix/>
          </a:blip>
          <a:srcRect b="0" l="0" r="0" t="0"/>
          <a:stretch/>
        </p:blipFill>
        <p:spPr>
          <a:xfrm>
            <a:off x="1524000" y="3273812"/>
            <a:ext cx="228600" cy="247650"/>
          </a:xfrm>
          <a:prstGeom prst="rect">
            <a:avLst/>
          </a:prstGeom>
          <a:noFill/>
          <a:ln>
            <a:noFill/>
          </a:ln>
        </p:spPr>
      </p:pic>
      <p:pic>
        <p:nvPicPr>
          <p:cNvPr descr="image.png" id="113" name="Google Shape;113;p15"/>
          <p:cNvPicPr preferRelativeResize="0"/>
          <p:nvPr/>
        </p:nvPicPr>
        <p:blipFill rotWithShape="1">
          <a:blip r:embed="rId6">
            <a:alphaModFix/>
          </a:blip>
          <a:srcRect b="0" l="0" r="0" t="0"/>
          <a:stretch/>
        </p:blipFill>
        <p:spPr>
          <a:xfrm>
            <a:off x="1524000" y="4493012"/>
            <a:ext cx="200025" cy="247650"/>
          </a:xfrm>
          <a:prstGeom prst="rect">
            <a:avLst/>
          </a:prstGeom>
          <a:noFill/>
          <a:ln>
            <a:noFill/>
          </a:ln>
        </p:spPr>
      </p:pic>
      <p:sp>
        <p:nvSpPr>
          <p:cNvPr id="114" name="Google Shape;114;p15"/>
          <p:cNvSpPr txBox="1"/>
          <p:nvPr/>
        </p:nvSpPr>
        <p:spPr>
          <a:xfrm>
            <a:off x="3533775" y="509587"/>
            <a:ext cx="53808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3600">
                <a:solidFill>
                  <a:srgbClr val="06B6D4"/>
                </a:solidFill>
                <a:latin typeface="Space Grotesk SemiBold"/>
                <a:ea typeface="Space Grotesk SemiBold"/>
                <a:cs typeface="Space Grotesk SemiBold"/>
                <a:sym typeface="Space Grotesk SemiBold"/>
              </a:rPr>
              <a:t>Core Feature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18" name="Shape 118"/>
        <p:cNvGrpSpPr/>
        <p:nvPr/>
      </p:nvGrpSpPr>
      <p:grpSpPr>
        <a:xfrm>
          <a:off x="0" y="0"/>
          <a:ext cx="0" cy="0"/>
          <a:chOff x="0" y="0"/>
          <a:chExt cx="0" cy="0"/>
        </a:xfrm>
      </p:grpSpPr>
      <p:pic>
        <p:nvPicPr>
          <p:cNvPr descr="image.png" id="119" name="Google Shape;119;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0" name="Google Shape;120;p16"/>
          <p:cNvPicPr preferRelativeResize="0"/>
          <p:nvPr/>
        </p:nvPicPr>
        <p:blipFill rotWithShape="1">
          <a:blip r:embed="rId4">
            <a:alphaModFix/>
          </a:blip>
          <a:srcRect b="0" l="0" r="0" t="0"/>
          <a:stretch/>
        </p:blipFill>
        <p:spPr>
          <a:xfrm>
            <a:off x="6334125" y="2005012"/>
            <a:ext cx="5286375" cy="3810000"/>
          </a:xfrm>
          <a:prstGeom prst="rect">
            <a:avLst/>
          </a:prstGeom>
          <a:noFill/>
          <a:ln>
            <a:noFill/>
          </a:ln>
        </p:spPr>
      </p:pic>
      <p:sp>
        <p:nvSpPr>
          <p:cNvPr id="121" name="Google Shape;121;p16"/>
          <p:cNvSpPr txBox="1"/>
          <p:nvPr/>
        </p:nvSpPr>
        <p:spPr>
          <a:xfrm>
            <a:off x="571500" y="2187922"/>
            <a:ext cx="5550693"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100" u="none" cap="none" strike="noStrike">
                <a:solidFill>
                  <a:srgbClr val="F8FAFC"/>
                </a:solidFill>
                <a:latin typeface="Space Grotesk Medium"/>
                <a:ea typeface="Space Grotesk Medium"/>
                <a:cs typeface="Space Grotesk Medium"/>
                <a:sym typeface="Space Grotesk Medium"/>
              </a:rPr>
              <a:t>Bảo vệ tin nhắn thời gian thực</a:t>
            </a:r>
            <a:endParaRPr/>
          </a:p>
        </p:txBody>
      </p:sp>
      <p:sp>
        <p:nvSpPr>
          <p:cNvPr id="122" name="Google Shape;122;p16"/>
          <p:cNvSpPr txBox="1"/>
          <p:nvPr/>
        </p:nvSpPr>
        <p:spPr>
          <a:xfrm>
            <a:off x="571500" y="2683222"/>
            <a:ext cx="528637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Hermes sử dụng mô hình mã hóa lai (Hybrid Encryption) để tối ưu cả hiệu suất và tính bảo mật cao nhất:</a:t>
            </a:r>
            <a:endParaRPr/>
          </a:p>
        </p:txBody>
      </p:sp>
      <p:sp>
        <p:nvSpPr>
          <p:cNvPr id="123" name="Google Shape;123;p16"/>
          <p:cNvSpPr txBox="1"/>
          <p:nvPr/>
        </p:nvSpPr>
        <p:spPr>
          <a:xfrm>
            <a:off x="666750" y="3482369"/>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a:t>
            </a:r>
            <a:endParaRPr/>
          </a:p>
        </p:txBody>
      </p:sp>
      <p:sp>
        <p:nvSpPr>
          <p:cNvPr id="124" name="Google Shape;124;p16"/>
          <p:cNvSpPr txBox="1"/>
          <p:nvPr/>
        </p:nvSpPr>
        <p:spPr>
          <a:xfrm>
            <a:off x="762000" y="3483325"/>
            <a:ext cx="5360100" cy="54030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94A3B8"/>
                </a:solidFill>
                <a:latin typeface="Inter"/>
                <a:ea typeface="Inter"/>
                <a:cs typeface="Inter"/>
                <a:sym typeface="Inter"/>
              </a:rPr>
              <a:t>Thuật toán RSA (2048/4096-bit):</a:t>
            </a:r>
            <a:r>
              <a:rPr b="0" i="0" lang="en-US" sz="1350" u="none" cap="none" strike="noStrike">
                <a:solidFill>
                  <a:srgbClr val="94A3B8"/>
                </a:solidFill>
                <a:latin typeface="Inter"/>
                <a:ea typeface="Inter"/>
                <a:cs typeface="Inter"/>
                <a:sym typeface="Inter"/>
              </a:rPr>
              <a:t> Sử dụng cặp Public/Private key để mã hóa và trao đổi khóa phiên một cách an toàn.</a:t>
            </a:r>
            <a:endParaRPr/>
          </a:p>
        </p:txBody>
      </p:sp>
      <p:sp>
        <p:nvSpPr>
          <p:cNvPr id="125" name="Google Shape;125;p16"/>
          <p:cNvSpPr txBox="1"/>
          <p:nvPr/>
        </p:nvSpPr>
        <p:spPr>
          <a:xfrm>
            <a:off x="666750" y="4145250"/>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a:t>
            </a:r>
            <a:endParaRPr/>
          </a:p>
        </p:txBody>
      </p:sp>
      <p:sp>
        <p:nvSpPr>
          <p:cNvPr id="126" name="Google Shape;126;p16"/>
          <p:cNvSpPr txBox="1"/>
          <p:nvPr/>
        </p:nvSpPr>
        <p:spPr>
          <a:xfrm>
            <a:off x="762000" y="4146202"/>
            <a:ext cx="5095875" cy="82287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94A3B8"/>
                </a:solidFill>
                <a:latin typeface="Inter"/>
                <a:ea typeface="Inter"/>
                <a:cs typeface="Inter"/>
                <a:sym typeface="Inter"/>
              </a:rPr>
              <a:t>Thuật toán AES-GCM:</a:t>
            </a:r>
            <a:r>
              <a:rPr b="0" i="0" lang="en-US" sz="1350" u="none" cap="none" strike="noStrike">
                <a:solidFill>
                  <a:srgbClr val="94A3B8"/>
                </a:solidFill>
                <a:latin typeface="Inter"/>
                <a:ea typeface="Inter"/>
                <a:cs typeface="Inter"/>
                <a:sym typeface="Inter"/>
              </a:rPr>
              <a:t> Được dùng để mã hóa trực tiếp nội dung tin nhắn, đảm bảo tốc độ cao và tính toàn vẹn của dữ liệu.</a:t>
            </a:r>
            <a:endParaRPr/>
          </a:p>
        </p:txBody>
      </p:sp>
      <p:sp>
        <p:nvSpPr>
          <p:cNvPr id="127" name="Google Shape;127;p16"/>
          <p:cNvSpPr txBox="1"/>
          <p:nvPr/>
        </p:nvSpPr>
        <p:spPr>
          <a:xfrm>
            <a:off x="666750" y="5082420"/>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94A3B8"/>
                </a:solidFill>
                <a:latin typeface="Inter"/>
                <a:ea typeface="Inter"/>
                <a:cs typeface="Inter"/>
                <a:sym typeface="Inter"/>
              </a:rPr>
              <a:t>•</a:t>
            </a:r>
            <a:endParaRPr/>
          </a:p>
        </p:txBody>
      </p:sp>
      <p:sp>
        <p:nvSpPr>
          <p:cNvPr id="128" name="Google Shape;128;p16"/>
          <p:cNvSpPr txBox="1"/>
          <p:nvPr/>
        </p:nvSpPr>
        <p:spPr>
          <a:xfrm>
            <a:off x="762000" y="5083375"/>
            <a:ext cx="5286300" cy="540300"/>
          </a:xfrm>
          <a:prstGeom prst="rect">
            <a:avLst/>
          </a:prstGeom>
          <a:noFill/>
          <a:ln>
            <a:noFill/>
          </a:ln>
        </p:spPr>
        <p:txBody>
          <a:bodyPr anchorCtr="0" anchor="t" bIns="0" lIns="9525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94A3B8"/>
                </a:solidFill>
                <a:latin typeface="Inter"/>
                <a:ea typeface="Inter"/>
                <a:cs typeface="Inter"/>
                <a:sym typeface="Inter"/>
              </a:rPr>
              <a:t>Key Wrapping (PBKDF2):</a:t>
            </a:r>
            <a:r>
              <a:rPr b="0" i="0" lang="en-US" sz="1350" u="none" cap="none" strike="noStrike">
                <a:solidFill>
                  <a:srgbClr val="94A3B8"/>
                </a:solidFill>
                <a:latin typeface="Inter"/>
                <a:ea typeface="Inter"/>
                <a:cs typeface="Inter"/>
                <a:sym typeface="Inter"/>
              </a:rPr>
              <a:t> Private key được mã hóa bằng một Master Key (tạo ra từ Mật khẩu + Salt) trước khi đẩy lên CSDL.</a:t>
            </a:r>
            <a:endParaRPr/>
          </a:p>
        </p:txBody>
      </p:sp>
      <p:pic>
        <p:nvPicPr>
          <p:cNvPr descr="image.png" id="129" name="Google Shape;129;p16"/>
          <p:cNvPicPr preferRelativeResize="0"/>
          <p:nvPr/>
        </p:nvPicPr>
        <p:blipFill rotWithShape="1">
          <a:blip r:embed="rId5">
            <a:alphaModFix/>
          </a:blip>
          <a:srcRect b="0" l="0" r="0" t="0"/>
          <a:stretch/>
        </p:blipFill>
        <p:spPr>
          <a:xfrm>
            <a:off x="6343650" y="2014537"/>
            <a:ext cx="5267325" cy="3790950"/>
          </a:xfrm>
          <a:prstGeom prst="rect">
            <a:avLst/>
          </a:prstGeom>
          <a:noFill/>
          <a:ln>
            <a:noFill/>
          </a:ln>
        </p:spPr>
      </p:pic>
      <p:sp>
        <p:nvSpPr>
          <p:cNvPr id="130" name="Google Shape;130;p16"/>
          <p:cNvSpPr txBox="1"/>
          <p:nvPr/>
        </p:nvSpPr>
        <p:spPr>
          <a:xfrm>
            <a:off x="3733800" y="571500"/>
            <a:ext cx="4960620" cy="581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06B6D4"/>
                </a:solidFill>
                <a:latin typeface="Space Grotesk SemiBold"/>
                <a:ea typeface="Space Grotesk SemiBold"/>
                <a:cs typeface="Space Grotesk SemiBold"/>
                <a:sym typeface="Space Grotesk SemiBold"/>
              </a:rPr>
              <a:t>Mã hóa Hybrid (E2EE)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34" name="Shape 134"/>
        <p:cNvGrpSpPr/>
        <p:nvPr/>
      </p:nvGrpSpPr>
      <p:grpSpPr>
        <a:xfrm>
          <a:off x="0" y="0"/>
          <a:ext cx="0" cy="0"/>
          <a:chOff x="0" y="0"/>
          <a:chExt cx="0" cy="0"/>
        </a:xfrm>
      </p:grpSpPr>
      <p:pic>
        <p:nvPicPr>
          <p:cNvPr descr="image.png" id="135" name="Google Shape;135;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6" name="Google Shape;136;p17"/>
          <p:cNvSpPr txBox="1"/>
          <p:nvPr/>
        </p:nvSpPr>
        <p:spPr>
          <a:xfrm>
            <a:off x="4014787" y="571500"/>
            <a:ext cx="4370546" cy="581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06B6D4"/>
                </a:solidFill>
                <a:latin typeface="Space Grotesk SemiBold"/>
                <a:ea typeface="Space Grotesk SemiBold"/>
                <a:cs typeface="Space Grotesk SemiBold"/>
                <a:sym typeface="Space Grotesk SemiBold"/>
              </a:rPr>
              <a:t>Kiến trúc Hệ thống</a:t>
            </a:r>
            <a:endParaRPr/>
          </a:p>
        </p:txBody>
      </p:sp>
      <p:pic>
        <p:nvPicPr>
          <p:cNvPr id="137" name="Google Shape;137;p17" title="Architecture_overview.png"/>
          <p:cNvPicPr preferRelativeResize="0"/>
          <p:nvPr/>
        </p:nvPicPr>
        <p:blipFill>
          <a:blip r:embed="rId4">
            <a:alphaModFix/>
          </a:blip>
          <a:stretch>
            <a:fillRect/>
          </a:stretch>
        </p:blipFill>
        <p:spPr>
          <a:xfrm>
            <a:off x="2715775" y="1365700"/>
            <a:ext cx="6968550" cy="5135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41" name="Shape 141"/>
        <p:cNvGrpSpPr/>
        <p:nvPr/>
      </p:nvGrpSpPr>
      <p:grpSpPr>
        <a:xfrm>
          <a:off x="0" y="0"/>
          <a:ext cx="0" cy="0"/>
          <a:chOff x="0" y="0"/>
          <a:chExt cx="0" cy="0"/>
        </a:xfrm>
      </p:grpSpPr>
      <p:pic>
        <p:nvPicPr>
          <p:cNvPr descr="image.png" id="142" name="Google Shape;142;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3" name="Google Shape;143;p18"/>
          <p:cNvSpPr txBox="1"/>
          <p:nvPr/>
        </p:nvSpPr>
        <p:spPr>
          <a:xfrm>
            <a:off x="4014787" y="571500"/>
            <a:ext cx="43704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3600">
                <a:solidFill>
                  <a:srgbClr val="06B6D4"/>
                </a:solidFill>
                <a:latin typeface="Space Grotesk SemiBold"/>
                <a:ea typeface="Space Grotesk SemiBold"/>
                <a:cs typeface="Space Grotesk SemiBold"/>
                <a:sym typeface="Space Grotesk SemiBold"/>
              </a:rPr>
              <a:t>Luồng mã hóa</a:t>
            </a:r>
            <a:endParaRPr/>
          </a:p>
        </p:txBody>
      </p:sp>
      <p:pic>
        <p:nvPicPr>
          <p:cNvPr id="144" name="Google Shape;144;p18" title="Crypto_flow.png"/>
          <p:cNvPicPr preferRelativeResize="0"/>
          <p:nvPr/>
        </p:nvPicPr>
        <p:blipFill>
          <a:blip r:embed="rId4">
            <a:alphaModFix/>
          </a:blip>
          <a:stretch>
            <a:fillRect/>
          </a:stretch>
        </p:blipFill>
        <p:spPr>
          <a:xfrm>
            <a:off x="2041150" y="1302050"/>
            <a:ext cx="8317676" cy="5331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48" name="Shape 148"/>
        <p:cNvGrpSpPr/>
        <p:nvPr/>
      </p:nvGrpSpPr>
      <p:grpSpPr>
        <a:xfrm>
          <a:off x="0" y="0"/>
          <a:ext cx="0" cy="0"/>
          <a:chOff x="0" y="0"/>
          <a:chExt cx="0" cy="0"/>
        </a:xfrm>
      </p:grpSpPr>
      <p:pic>
        <p:nvPicPr>
          <p:cNvPr descr="image.png" id="149" name="Google Shape;149;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0" name="Google Shape;150;p19"/>
          <p:cNvSpPr txBox="1"/>
          <p:nvPr/>
        </p:nvSpPr>
        <p:spPr>
          <a:xfrm>
            <a:off x="4014787" y="571500"/>
            <a:ext cx="43704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3600">
                <a:solidFill>
                  <a:srgbClr val="06B6D4"/>
                </a:solidFill>
                <a:latin typeface="Space Grotesk SemiBold"/>
                <a:ea typeface="Space Grotesk SemiBold"/>
                <a:cs typeface="Space Grotesk SemiBold"/>
                <a:sym typeface="Space Grotesk SemiBold"/>
              </a:rPr>
              <a:t>Database</a:t>
            </a:r>
            <a:endParaRPr/>
          </a:p>
        </p:txBody>
      </p:sp>
      <p:pic>
        <p:nvPicPr>
          <p:cNvPr id="151" name="Google Shape;151;p19" title="Tables.png"/>
          <p:cNvPicPr preferRelativeResize="0"/>
          <p:nvPr/>
        </p:nvPicPr>
        <p:blipFill>
          <a:blip r:embed="rId4">
            <a:alphaModFix/>
          </a:blip>
          <a:stretch>
            <a:fillRect/>
          </a:stretch>
        </p:blipFill>
        <p:spPr>
          <a:xfrm>
            <a:off x="1907138" y="1308800"/>
            <a:ext cx="8377723" cy="5330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55" name="Shape 155"/>
        <p:cNvGrpSpPr/>
        <p:nvPr/>
      </p:nvGrpSpPr>
      <p:grpSpPr>
        <a:xfrm>
          <a:off x="0" y="0"/>
          <a:ext cx="0" cy="0"/>
          <a:chOff x="0" y="0"/>
          <a:chExt cx="0" cy="0"/>
        </a:xfrm>
      </p:grpSpPr>
      <p:pic>
        <p:nvPicPr>
          <p:cNvPr descr="image.png" id="156" name="Google Shape;156;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7" name="Google Shape;157;p20"/>
          <p:cNvSpPr txBox="1"/>
          <p:nvPr/>
        </p:nvSpPr>
        <p:spPr>
          <a:xfrm>
            <a:off x="3677573" y="571500"/>
            <a:ext cx="50448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3600">
                <a:solidFill>
                  <a:srgbClr val="06B6D4"/>
                </a:solidFill>
                <a:latin typeface="Space Grotesk SemiBold"/>
                <a:ea typeface="Space Grotesk SemiBold"/>
                <a:cs typeface="Space Grotesk SemiBold"/>
                <a:sym typeface="Space Grotesk SemiBold"/>
              </a:rPr>
              <a:t>Luồng tin nhắn tự hủy</a:t>
            </a:r>
            <a:endParaRPr/>
          </a:p>
        </p:txBody>
      </p:sp>
      <p:pic>
        <p:nvPicPr>
          <p:cNvPr id="158" name="Google Shape;158;p20" title="burn-on-read_flow.png"/>
          <p:cNvPicPr preferRelativeResize="0"/>
          <p:nvPr/>
        </p:nvPicPr>
        <p:blipFill>
          <a:blip r:embed="rId4">
            <a:alphaModFix/>
          </a:blip>
          <a:stretch>
            <a:fillRect/>
          </a:stretch>
        </p:blipFill>
        <p:spPr>
          <a:xfrm>
            <a:off x="3340525" y="1191850"/>
            <a:ext cx="5718902" cy="5367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62" name="Shape 162"/>
        <p:cNvGrpSpPr/>
        <p:nvPr/>
      </p:nvGrpSpPr>
      <p:grpSpPr>
        <a:xfrm>
          <a:off x="0" y="0"/>
          <a:ext cx="0" cy="0"/>
          <a:chOff x="0" y="0"/>
          <a:chExt cx="0" cy="0"/>
        </a:xfrm>
      </p:grpSpPr>
      <p:pic>
        <p:nvPicPr>
          <p:cNvPr descr="image.png" id="163" name="Google Shape;163;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4" name="Google Shape;164;p21"/>
          <p:cNvPicPr preferRelativeResize="0"/>
          <p:nvPr/>
        </p:nvPicPr>
        <p:blipFill rotWithShape="1">
          <a:blip r:embed="rId4">
            <a:alphaModFix/>
          </a:blip>
          <a:srcRect b="0" l="0" r="0" t="0"/>
          <a:stretch/>
        </p:blipFill>
        <p:spPr>
          <a:xfrm>
            <a:off x="571500" y="1781175"/>
            <a:ext cx="3419475" cy="4257675"/>
          </a:xfrm>
          <a:prstGeom prst="rect">
            <a:avLst/>
          </a:prstGeom>
          <a:noFill/>
          <a:ln>
            <a:noFill/>
          </a:ln>
        </p:spPr>
      </p:pic>
      <p:pic>
        <p:nvPicPr>
          <p:cNvPr descr="image.png" id="165" name="Google Shape;165;p21"/>
          <p:cNvPicPr preferRelativeResize="0"/>
          <p:nvPr/>
        </p:nvPicPr>
        <p:blipFill rotWithShape="1">
          <a:blip r:embed="rId4">
            <a:alphaModFix/>
          </a:blip>
          <a:srcRect b="0" l="0" r="0" t="0"/>
          <a:stretch/>
        </p:blipFill>
        <p:spPr>
          <a:xfrm>
            <a:off x="4371975" y="1781175"/>
            <a:ext cx="3419475" cy="4257675"/>
          </a:xfrm>
          <a:prstGeom prst="rect">
            <a:avLst/>
          </a:prstGeom>
          <a:noFill/>
          <a:ln>
            <a:noFill/>
          </a:ln>
        </p:spPr>
      </p:pic>
      <p:pic>
        <p:nvPicPr>
          <p:cNvPr descr="image.png" id="166" name="Google Shape;166;p21"/>
          <p:cNvPicPr preferRelativeResize="0"/>
          <p:nvPr/>
        </p:nvPicPr>
        <p:blipFill rotWithShape="1">
          <a:blip r:embed="rId5">
            <a:alphaModFix/>
          </a:blip>
          <a:srcRect b="0" l="0" r="0" t="0"/>
          <a:stretch/>
        </p:blipFill>
        <p:spPr>
          <a:xfrm>
            <a:off x="8172450" y="1781175"/>
            <a:ext cx="3448050" cy="4257675"/>
          </a:xfrm>
          <a:prstGeom prst="rect">
            <a:avLst/>
          </a:prstGeom>
          <a:noFill/>
          <a:ln>
            <a:noFill/>
          </a:ln>
        </p:spPr>
      </p:pic>
      <p:pic>
        <p:nvPicPr>
          <p:cNvPr descr="image.png" id="167" name="Google Shape;167;p21"/>
          <p:cNvPicPr preferRelativeResize="0"/>
          <p:nvPr/>
        </p:nvPicPr>
        <p:blipFill rotWithShape="1">
          <a:blip r:embed="rId6">
            <a:alphaModFix/>
          </a:blip>
          <a:srcRect b="0" l="0" r="0" t="0"/>
          <a:stretch/>
        </p:blipFill>
        <p:spPr>
          <a:xfrm>
            <a:off x="1900237" y="2171700"/>
            <a:ext cx="762000" cy="762000"/>
          </a:xfrm>
          <a:prstGeom prst="rect">
            <a:avLst/>
          </a:prstGeom>
          <a:noFill/>
          <a:ln>
            <a:noFill/>
          </a:ln>
        </p:spPr>
      </p:pic>
      <p:sp>
        <p:nvSpPr>
          <p:cNvPr id="168" name="Google Shape;168;p21"/>
          <p:cNvSpPr txBox="1"/>
          <p:nvPr/>
        </p:nvSpPr>
        <p:spPr>
          <a:xfrm>
            <a:off x="1611153" y="3162300"/>
            <a:ext cx="1340167"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8FAFC"/>
                </a:solidFill>
                <a:latin typeface="Space Grotesk Medium"/>
                <a:ea typeface="Space Grotesk Medium"/>
                <a:cs typeface="Space Grotesk Medium"/>
                <a:sym typeface="Space Grotesk Medium"/>
              </a:rPr>
              <a:t>Front-end</a:t>
            </a:r>
            <a:endParaRPr/>
          </a:p>
        </p:txBody>
      </p:sp>
      <p:sp>
        <p:nvSpPr>
          <p:cNvPr id="169" name="Google Shape;169;p21"/>
          <p:cNvSpPr txBox="1"/>
          <p:nvPr/>
        </p:nvSpPr>
        <p:spPr>
          <a:xfrm>
            <a:off x="809588" y="3810000"/>
            <a:ext cx="29433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Phát triển trên nền tảng </a:t>
            </a:r>
            <a:r>
              <a:rPr b="1" i="0" lang="en-US" sz="1500" u="none" cap="none" strike="noStrike">
                <a:solidFill>
                  <a:srgbClr val="94A3B8"/>
                </a:solidFill>
                <a:latin typeface="Inter"/>
                <a:ea typeface="Inter"/>
                <a:cs typeface="Inter"/>
                <a:sym typeface="Inter"/>
              </a:rPr>
              <a:t>C# WPF</a:t>
            </a:r>
            <a:r>
              <a:rPr b="0" i="0" lang="en-US" sz="1500" u="none" cap="none" strike="noStrike">
                <a:solidFill>
                  <a:srgbClr val="94A3B8"/>
                </a:solidFill>
                <a:latin typeface="Inter"/>
                <a:ea typeface="Inter"/>
                <a:cs typeface="Inter"/>
                <a:sym typeface="Inter"/>
              </a:rPr>
              <a:t> áp dụng mẫu thiết kế </a:t>
            </a:r>
            <a:r>
              <a:rPr b="1" i="0" lang="en-US" sz="1500" u="none" cap="none" strike="noStrike">
                <a:solidFill>
                  <a:srgbClr val="94A3B8"/>
                </a:solidFill>
                <a:latin typeface="Inter"/>
                <a:ea typeface="Inter"/>
                <a:cs typeface="Inter"/>
                <a:sym typeface="Inter"/>
              </a:rPr>
              <a:t>MVVM</a:t>
            </a:r>
            <a:r>
              <a:rPr b="0" i="0" lang="en-US" sz="1500" u="none" cap="none" strike="noStrike">
                <a:solidFill>
                  <a:srgbClr val="94A3B8"/>
                </a:solidFill>
                <a:latin typeface="Inter"/>
                <a:ea typeface="Inter"/>
                <a:cs typeface="Inter"/>
                <a:sym typeface="Inter"/>
              </a:rPr>
              <a:t> (Model-View-ViewModel) đảm bảo sự tách biệt logic và UI rõ ràng.</a:t>
            </a:r>
            <a:endParaRPr/>
          </a:p>
        </p:txBody>
      </p:sp>
      <p:pic>
        <p:nvPicPr>
          <p:cNvPr descr="image.png" id="170" name="Google Shape;170;p21"/>
          <p:cNvPicPr preferRelativeResize="0"/>
          <p:nvPr/>
        </p:nvPicPr>
        <p:blipFill rotWithShape="1">
          <a:blip r:embed="rId7">
            <a:alphaModFix/>
          </a:blip>
          <a:srcRect b="0" l="0" r="0" t="0"/>
          <a:stretch/>
        </p:blipFill>
        <p:spPr>
          <a:xfrm>
            <a:off x="5700712" y="2171700"/>
            <a:ext cx="762000" cy="762000"/>
          </a:xfrm>
          <a:prstGeom prst="rect">
            <a:avLst/>
          </a:prstGeom>
          <a:noFill/>
          <a:ln>
            <a:noFill/>
          </a:ln>
        </p:spPr>
      </p:pic>
      <p:sp>
        <p:nvSpPr>
          <p:cNvPr id="171" name="Google Shape;171;p21"/>
          <p:cNvSpPr txBox="1"/>
          <p:nvPr/>
        </p:nvSpPr>
        <p:spPr>
          <a:xfrm>
            <a:off x="5436631" y="3162300"/>
            <a:ext cx="1290161"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8FAFC"/>
                </a:solidFill>
                <a:latin typeface="Space Grotesk Medium"/>
                <a:ea typeface="Space Grotesk Medium"/>
                <a:cs typeface="Space Grotesk Medium"/>
                <a:sym typeface="Space Grotesk Medium"/>
              </a:rPr>
              <a:t>Back-end</a:t>
            </a:r>
            <a:endParaRPr/>
          </a:p>
        </p:txBody>
      </p:sp>
      <p:sp>
        <p:nvSpPr>
          <p:cNvPr id="172" name="Google Shape;172;p21"/>
          <p:cNvSpPr txBox="1"/>
          <p:nvPr/>
        </p:nvSpPr>
        <p:spPr>
          <a:xfrm>
            <a:off x="4762500" y="3810000"/>
            <a:ext cx="2638425" cy="1524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Sử dụng </a:t>
            </a:r>
            <a:r>
              <a:rPr b="1" i="0" lang="en-US" sz="1500" u="none" cap="none" strike="noStrike">
                <a:solidFill>
                  <a:srgbClr val="94A3B8"/>
                </a:solidFill>
                <a:latin typeface="Inter"/>
                <a:ea typeface="Inter"/>
                <a:cs typeface="Inter"/>
                <a:sym typeface="Inter"/>
              </a:rPr>
              <a:t>ASP.NET Core SignalR</a:t>
            </a:r>
            <a:r>
              <a:rPr b="0" i="0" lang="en-US" sz="1500" u="none" cap="none" strike="noStrike">
                <a:solidFill>
                  <a:srgbClr val="94A3B8"/>
                </a:solidFill>
                <a:latin typeface="Inter"/>
                <a:ea typeface="Inter"/>
                <a:cs typeface="Inter"/>
                <a:sym typeface="Inter"/>
              </a:rPr>
              <a:t> để thiết lập kết nối WebSockets hai chiều, giúp tin nhắn được push theo thời gian thực.</a:t>
            </a:r>
            <a:endParaRPr/>
          </a:p>
        </p:txBody>
      </p:sp>
      <p:pic>
        <p:nvPicPr>
          <p:cNvPr descr="image.png" id="173" name="Google Shape;173;p21"/>
          <p:cNvPicPr preferRelativeResize="0"/>
          <p:nvPr/>
        </p:nvPicPr>
        <p:blipFill rotWithShape="1">
          <a:blip r:embed="rId8">
            <a:alphaModFix/>
          </a:blip>
          <a:srcRect b="0" l="0" r="0" t="0"/>
          <a:stretch/>
        </p:blipFill>
        <p:spPr>
          <a:xfrm>
            <a:off x="9515475" y="2171700"/>
            <a:ext cx="762000" cy="762000"/>
          </a:xfrm>
          <a:prstGeom prst="rect">
            <a:avLst/>
          </a:prstGeom>
          <a:noFill/>
          <a:ln>
            <a:noFill/>
          </a:ln>
        </p:spPr>
      </p:pic>
      <p:sp>
        <p:nvSpPr>
          <p:cNvPr id="174" name="Google Shape;174;p21"/>
          <p:cNvSpPr txBox="1"/>
          <p:nvPr/>
        </p:nvSpPr>
        <p:spPr>
          <a:xfrm>
            <a:off x="9106376" y="3162300"/>
            <a:ext cx="1580197" cy="342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2100" u="none" cap="none" strike="noStrike">
                <a:solidFill>
                  <a:srgbClr val="F8FAFC"/>
                </a:solidFill>
                <a:latin typeface="Space Grotesk Medium"/>
                <a:ea typeface="Space Grotesk Medium"/>
                <a:cs typeface="Space Grotesk Medium"/>
                <a:sym typeface="Space Grotesk Medium"/>
              </a:rPr>
              <a:t>Mật mã học</a:t>
            </a:r>
            <a:endParaRPr/>
          </a:p>
        </p:txBody>
      </p:sp>
      <p:sp>
        <p:nvSpPr>
          <p:cNvPr id="175" name="Google Shape;175;p21"/>
          <p:cNvSpPr txBox="1"/>
          <p:nvPr/>
        </p:nvSpPr>
        <p:spPr>
          <a:xfrm>
            <a:off x="8281425" y="3810000"/>
            <a:ext cx="3230100" cy="17085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94A3B8"/>
                </a:solidFill>
                <a:latin typeface="Inter"/>
                <a:ea typeface="Inter"/>
                <a:cs typeface="Inter"/>
                <a:sym typeface="Inter"/>
              </a:rPr>
              <a:t>Thư viện System.Security.Cryptography gốc của .NET để triển khai thuật toán </a:t>
            </a:r>
            <a:r>
              <a:rPr b="1" i="0" lang="en-US" sz="1500" u="none" cap="none" strike="noStrike">
                <a:solidFill>
                  <a:srgbClr val="94A3B8"/>
                </a:solidFill>
                <a:latin typeface="Inter"/>
                <a:ea typeface="Inter"/>
                <a:cs typeface="Inter"/>
                <a:sym typeface="Inter"/>
              </a:rPr>
              <a:t>RSA, AesGcm</a:t>
            </a:r>
            <a:r>
              <a:rPr b="0" i="0" lang="en-US" sz="1500" u="none" cap="none" strike="noStrike">
                <a:solidFill>
                  <a:srgbClr val="94A3B8"/>
                </a:solidFill>
                <a:latin typeface="Inter"/>
                <a:ea typeface="Inter"/>
                <a:cs typeface="Inter"/>
                <a:sym typeface="Inter"/>
              </a:rPr>
              <a:t> và dẫn xuất khóa </a:t>
            </a:r>
            <a:r>
              <a:rPr b="1" i="0" lang="en-US" sz="1500" u="none" cap="none" strike="noStrike">
                <a:solidFill>
                  <a:srgbClr val="94A3B8"/>
                </a:solidFill>
                <a:latin typeface="Inter"/>
                <a:ea typeface="Inter"/>
                <a:cs typeface="Inter"/>
                <a:sym typeface="Inter"/>
              </a:rPr>
              <a:t>Rfc2898DeriveBytes (PBKDF2)</a:t>
            </a:r>
            <a:r>
              <a:rPr b="0" i="0" lang="en-US" sz="1500" u="none" cap="none" strike="noStrike">
                <a:solidFill>
                  <a:srgbClr val="94A3B8"/>
                </a:solidFill>
                <a:latin typeface="Inter"/>
                <a:ea typeface="Inter"/>
                <a:cs typeface="Inter"/>
                <a:sym typeface="Inter"/>
              </a:rPr>
              <a:t>.</a:t>
            </a:r>
            <a:endParaRPr/>
          </a:p>
        </p:txBody>
      </p:sp>
      <p:pic>
        <p:nvPicPr>
          <p:cNvPr descr="image.png" id="176" name="Google Shape;176;p21"/>
          <p:cNvPicPr preferRelativeResize="0"/>
          <p:nvPr/>
        </p:nvPicPr>
        <p:blipFill rotWithShape="1">
          <a:blip r:embed="rId9">
            <a:alphaModFix/>
          </a:blip>
          <a:srcRect b="0" l="0" r="0" t="0"/>
          <a:stretch/>
        </p:blipFill>
        <p:spPr>
          <a:xfrm>
            <a:off x="2109787" y="2400300"/>
            <a:ext cx="342900" cy="304800"/>
          </a:xfrm>
          <a:prstGeom prst="rect">
            <a:avLst/>
          </a:prstGeom>
          <a:noFill/>
          <a:ln>
            <a:noFill/>
          </a:ln>
        </p:spPr>
      </p:pic>
      <p:pic>
        <p:nvPicPr>
          <p:cNvPr descr="image.png" id="177" name="Google Shape;177;p21"/>
          <p:cNvPicPr preferRelativeResize="0"/>
          <p:nvPr/>
        </p:nvPicPr>
        <p:blipFill rotWithShape="1">
          <a:blip r:embed="rId10">
            <a:alphaModFix/>
          </a:blip>
          <a:srcRect b="0" l="0" r="0" t="0"/>
          <a:stretch/>
        </p:blipFill>
        <p:spPr>
          <a:xfrm>
            <a:off x="5929312" y="2400300"/>
            <a:ext cx="304800" cy="304800"/>
          </a:xfrm>
          <a:prstGeom prst="rect">
            <a:avLst/>
          </a:prstGeom>
          <a:noFill/>
          <a:ln>
            <a:noFill/>
          </a:ln>
        </p:spPr>
      </p:pic>
      <p:pic>
        <p:nvPicPr>
          <p:cNvPr descr="image.png" id="178" name="Google Shape;178;p21"/>
          <p:cNvPicPr preferRelativeResize="0"/>
          <p:nvPr/>
        </p:nvPicPr>
        <p:blipFill rotWithShape="1">
          <a:blip r:embed="rId11">
            <a:alphaModFix/>
          </a:blip>
          <a:srcRect b="0" l="0" r="0" t="0"/>
          <a:stretch/>
        </p:blipFill>
        <p:spPr>
          <a:xfrm>
            <a:off x="9744075" y="2400300"/>
            <a:ext cx="304800" cy="304800"/>
          </a:xfrm>
          <a:prstGeom prst="rect">
            <a:avLst/>
          </a:prstGeom>
          <a:noFill/>
          <a:ln>
            <a:noFill/>
          </a:ln>
        </p:spPr>
      </p:pic>
      <p:sp>
        <p:nvSpPr>
          <p:cNvPr id="179" name="Google Shape;179;p21"/>
          <p:cNvSpPr txBox="1"/>
          <p:nvPr/>
        </p:nvSpPr>
        <p:spPr>
          <a:xfrm>
            <a:off x="3905250" y="571500"/>
            <a:ext cx="46005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3600">
                <a:solidFill>
                  <a:srgbClr val="06B6D4"/>
                </a:solidFill>
                <a:latin typeface="Space Grotesk SemiBold"/>
                <a:ea typeface="Space Grotesk SemiBold"/>
                <a:cs typeface="Space Grotesk SemiBold"/>
                <a:sym typeface="Space Grotesk SemiBold"/>
              </a:rPr>
              <a:t>Techstack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183" name="Shape 183"/>
        <p:cNvGrpSpPr/>
        <p:nvPr/>
      </p:nvGrpSpPr>
      <p:grpSpPr>
        <a:xfrm>
          <a:off x="0" y="0"/>
          <a:ext cx="0" cy="0"/>
          <a:chOff x="0" y="0"/>
          <a:chExt cx="0" cy="0"/>
        </a:xfrm>
      </p:grpSpPr>
      <p:pic>
        <p:nvPicPr>
          <p:cNvPr descr="image.png" id="184" name="Google Shape;184;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5" name="Google Shape;185;p22"/>
          <p:cNvPicPr preferRelativeResize="0"/>
          <p:nvPr/>
        </p:nvPicPr>
        <p:blipFill rotWithShape="1">
          <a:blip r:embed="rId4">
            <a:alphaModFix/>
          </a:blip>
          <a:srcRect b="0" l="0" r="0" t="0"/>
          <a:stretch/>
        </p:blipFill>
        <p:spPr>
          <a:xfrm>
            <a:off x="571500" y="4481512"/>
            <a:ext cx="2541240" cy="1455241"/>
          </a:xfrm>
          <a:prstGeom prst="rect">
            <a:avLst/>
          </a:prstGeom>
          <a:noFill/>
          <a:ln>
            <a:noFill/>
          </a:ln>
        </p:spPr>
      </p:pic>
      <p:pic>
        <p:nvPicPr>
          <p:cNvPr descr="image.png" id="186" name="Google Shape;186;p22"/>
          <p:cNvPicPr preferRelativeResize="0"/>
          <p:nvPr/>
        </p:nvPicPr>
        <p:blipFill rotWithShape="1">
          <a:blip r:embed="rId5">
            <a:alphaModFix/>
          </a:blip>
          <a:srcRect b="0" l="0" r="0" t="0"/>
          <a:stretch/>
        </p:blipFill>
        <p:spPr>
          <a:xfrm>
            <a:off x="3407419" y="2264271"/>
            <a:ext cx="2541240" cy="1455241"/>
          </a:xfrm>
          <a:prstGeom prst="rect">
            <a:avLst/>
          </a:prstGeom>
          <a:noFill/>
          <a:ln>
            <a:noFill/>
          </a:ln>
        </p:spPr>
      </p:pic>
      <p:pic>
        <p:nvPicPr>
          <p:cNvPr descr="image.png" id="187" name="Google Shape;187;p22"/>
          <p:cNvPicPr preferRelativeResize="0"/>
          <p:nvPr/>
        </p:nvPicPr>
        <p:blipFill rotWithShape="1">
          <a:blip r:embed="rId6">
            <a:alphaModFix/>
          </a:blip>
          <a:srcRect b="0" l="0" r="0" t="0"/>
          <a:stretch/>
        </p:blipFill>
        <p:spPr>
          <a:xfrm>
            <a:off x="6243339" y="4481512"/>
            <a:ext cx="2541240" cy="1455241"/>
          </a:xfrm>
          <a:prstGeom prst="rect">
            <a:avLst/>
          </a:prstGeom>
          <a:noFill/>
          <a:ln>
            <a:noFill/>
          </a:ln>
        </p:spPr>
      </p:pic>
      <p:pic>
        <p:nvPicPr>
          <p:cNvPr descr="image.png" id="188" name="Google Shape;188;p22"/>
          <p:cNvPicPr preferRelativeResize="0"/>
          <p:nvPr/>
        </p:nvPicPr>
        <p:blipFill rotWithShape="1">
          <a:blip r:embed="rId7">
            <a:alphaModFix/>
          </a:blip>
          <a:srcRect b="0" l="0" r="0" t="0"/>
          <a:stretch/>
        </p:blipFill>
        <p:spPr>
          <a:xfrm>
            <a:off x="9079259" y="2264271"/>
            <a:ext cx="2541240" cy="1455241"/>
          </a:xfrm>
          <a:prstGeom prst="rect">
            <a:avLst/>
          </a:prstGeom>
          <a:noFill/>
          <a:ln>
            <a:noFill/>
          </a:ln>
        </p:spPr>
      </p:pic>
      <p:sp>
        <p:nvSpPr>
          <p:cNvPr id="189" name="Google Shape;189;p22"/>
          <p:cNvSpPr/>
          <p:nvPr/>
        </p:nvSpPr>
        <p:spPr>
          <a:xfrm>
            <a:off x="571500" y="4081462"/>
            <a:ext cx="11049000" cy="381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0" name="Google Shape;190;p22"/>
          <p:cNvSpPr txBox="1"/>
          <p:nvPr/>
        </p:nvSpPr>
        <p:spPr>
          <a:xfrm>
            <a:off x="717995" y="4681537"/>
            <a:ext cx="2248249"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6B6D4"/>
                </a:solidFill>
                <a:latin typeface="Space Grotesk Medium"/>
                <a:ea typeface="Space Grotesk Medium"/>
                <a:cs typeface="Space Grotesk Medium"/>
                <a:sym typeface="Space Grotesk Medium"/>
              </a:rPr>
              <a:t>Giai đoạn 1</a:t>
            </a:r>
            <a:endParaRPr/>
          </a:p>
        </p:txBody>
      </p:sp>
      <p:sp>
        <p:nvSpPr>
          <p:cNvPr id="191" name="Google Shape;191;p22"/>
          <p:cNvSpPr txBox="1"/>
          <p:nvPr/>
        </p:nvSpPr>
        <p:spPr>
          <a:xfrm>
            <a:off x="771525" y="5005387"/>
            <a:ext cx="2141190" cy="73134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Hoàn thiện UI cơ bản, tích hợp Firebase Auth và thiết kế Database Schema.</a:t>
            </a:r>
            <a:endParaRPr/>
          </a:p>
        </p:txBody>
      </p:sp>
      <p:sp>
        <p:nvSpPr>
          <p:cNvPr id="192" name="Google Shape;192;p22"/>
          <p:cNvSpPr txBox="1"/>
          <p:nvPr/>
        </p:nvSpPr>
        <p:spPr>
          <a:xfrm>
            <a:off x="3553915" y="2464296"/>
            <a:ext cx="2248249"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6B6D4"/>
                </a:solidFill>
                <a:latin typeface="Space Grotesk Medium"/>
                <a:ea typeface="Space Grotesk Medium"/>
                <a:cs typeface="Space Grotesk Medium"/>
                <a:sym typeface="Space Grotesk Medium"/>
              </a:rPr>
              <a:t>Giai đoạn 2</a:t>
            </a:r>
            <a:endParaRPr/>
          </a:p>
        </p:txBody>
      </p:sp>
      <p:sp>
        <p:nvSpPr>
          <p:cNvPr id="193" name="Google Shape;193;p22"/>
          <p:cNvSpPr txBox="1"/>
          <p:nvPr/>
        </p:nvSpPr>
        <p:spPr>
          <a:xfrm>
            <a:off x="3607444" y="2788146"/>
            <a:ext cx="2141190" cy="731341"/>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Deploy Tailscale VPN, thiết lập SignalR Hub và chức năng Chat Real-time.</a:t>
            </a:r>
            <a:endParaRPr/>
          </a:p>
        </p:txBody>
      </p:sp>
      <p:sp>
        <p:nvSpPr>
          <p:cNvPr id="194" name="Google Shape;194;p22"/>
          <p:cNvSpPr txBox="1"/>
          <p:nvPr/>
        </p:nvSpPr>
        <p:spPr>
          <a:xfrm>
            <a:off x="6389835" y="4681537"/>
            <a:ext cx="2248249"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6B6D4"/>
                </a:solidFill>
                <a:latin typeface="Space Grotesk Medium"/>
                <a:ea typeface="Space Grotesk Medium"/>
                <a:cs typeface="Space Grotesk Medium"/>
                <a:sym typeface="Space Grotesk Medium"/>
              </a:rPr>
              <a:t>Giai đoạn 3</a:t>
            </a:r>
            <a:endParaRPr/>
          </a:p>
        </p:txBody>
      </p:sp>
      <p:sp>
        <p:nvSpPr>
          <p:cNvPr id="195" name="Google Shape;195;p22"/>
          <p:cNvSpPr txBox="1"/>
          <p:nvPr/>
        </p:nvSpPr>
        <p:spPr>
          <a:xfrm>
            <a:off x="6389825" y="5005375"/>
            <a:ext cx="2301900" cy="775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Tích hợp Mật mã học v</a:t>
            </a:r>
            <a:r>
              <a:rPr lang="en-US" sz="1200">
                <a:solidFill>
                  <a:srgbClr val="94A3B8"/>
                </a:solidFill>
                <a:latin typeface="Inter"/>
                <a:ea typeface="Inter"/>
                <a:cs typeface="Inter"/>
                <a:sym typeface="Inter"/>
              </a:rPr>
              <a:t>à backend</a:t>
            </a:r>
            <a:r>
              <a:rPr b="0" i="0" lang="en-US" sz="1200" u="none" cap="none" strike="noStrike">
                <a:solidFill>
                  <a:srgbClr val="94A3B8"/>
                </a:solidFill>
                <a:latin typeface="Inter"/>
                <a:ea typeface="Inter"/>
                <a:cs typeface="Inter"/>
                <a:sym typeface="Inter"/>
              </a:rPr>
              <a:t>: Khởi tạo, Phân phối khóa RSA, Mã hóa AES Hybrid</a:t>
            </a:r>
            <a:endParaRPr/>
          </a:p>
        </p:txBody>
      </p:sp>
      <p:sp>
        <p:nvSpPr>
          <p:cNvPr id="196" name="Google Shape;196;p22"/>
          <p:cNvSpPr txBox="1"/>
          <p:nvPr/>
        </p:nvSpPr>
        <p:spPr>
          <a:xfrm>
            <a:off x="9225755" y="2464296"/>
            <a:ext cx="2248249" cy="2476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500" u="none" cap="none" strike="noStrike">
                <a:solidFill>
                  <a:srgbClr val="06B6D4"/>
                </a:solidFill>
                <a:latin typeface="Space Grotesk Medium"/>
                <a:ea typeface="Space Grotesk Medium"/>
                <a:cs typeface="Space Grotesk Medium"/>
                <a:sym typeface="Space Grotesk Medium"/>
              </a:rPr>
              <a:t>Giai đoạn 4</a:t>
            </a:r>
            <a:endParaRPr/>
          </a:p>
        </p:txBody>
      </p:sp>
      <p:sp>
        <p:nvSpPr>
          <p:cNvPr id="197" name="Google Shape;197;p22"/>
          <p:cNvSpPr txBox="1"/>
          <p:nvPr/>
        </p:nvSpPr>
        <p:spPr>
          <a:xfrm>
            <a:off x="9279284" y="2788146"/>
            <a:ext cx="2141100" cy="4803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94A3B8"/>
                </a:solidFill>
                <a:latin typeface="Inter"/>
                <a:ea typeface="Inter"/>
                <a:cs typeface="Inter"/>
                <a:sym typeface="Inter"/>
              </a:rPr>
              <a:t>Phát triển tính năng </a:t>
            </a:r>
            <a:r>
              <a:rPr lang="en-US" sz="1200">
                <a:solidFill>
                  <a:srgbClr val="94A3B8"/>
                </a:solidFill>
                <a:latin typeface="Inter"/>
                <a:ea typeface="Inter"/>
                <a:cs typeface="Inter"/>
                <a:sym typeface="Inter"/>
              </a:rPr>
              <a:t>tin nhắn tự hủy</a:t>
            </a:r>
            <a:endParaRPr/>
          </a:p>
        </p:txBody>
      </p:sp>
      <p:sp>
        <p:nvSpPr>
          <p:cNvPr id="198" name="Google Shape;198;p22"/>
          <p:cNvSpPr/>
          <p:nvPr/>
        </p:nvSpPr>
        <p:spPr>
          <a:xfrm>
            <a:off x="1727820" y="3986212"/>
            <a:ext cx="228600" cy="228600"/>
          </a:xfrm>
          <a:prstGeom prst="roundRect">
            <a:avLst>
              <a:gd fmla="val 50000" name="adj"/>
            </a:avLst>
          </a:prstGeom>
          <a:solidFill>
            <a:srgbClr val="0B1120"/>
          </a:solidFill>
          <a:ln cap="flat" cmpd="sng" w="38100">
            <a:solidFill>
              <a:srgbClr val="06B6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22"/>
          <p:cNvSpPr/>
          <p:nvPr/>
        </p:nvSpPr>
        <p:spPr>
          <a:xfrm>
            <a:off x="4563740" y="3986212"/>
            <a:ext cx="228600" cy="228600"/>
          </a:xfrm>
          <a:prstGeom prst="roundRect">
            <a:avLst>
              <a:gd fmla="val 50000" name="adj"/>
            </a:avLst>
          </a:prstGeom>
          <a:solidFill>
            <a:srgbClr val="0B1120"/>
          </a:solidFill>
          <a:ln cap="flat" cmpd="sng" w="38100">
            <a:solidFill>
              <a:srgbClr val="06B6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22"/>
          <p:cNvSpPr/>
          <p:nvPr/>
        </p:nvSpPr>
        <p:spPr>
          <a:xfrm>
            <a:off x="7399659" y="3986212"/>
            <a:ext cx="228600" cy="228600"/>
          </a:xfrm>
          <a:prstGeom prst="roundRect">
            <a:avLst>
              <a:gd fmla="val 50000" name="adj"/>
            </a:avLst>
          </a:prstGeom>
          <a:solidFill>
            <a:srgbClr val="0B1120"/>
          </a:solidFill>
          <a:ln cap="flat" cmpd="sng" w="38100">
            <a:solidFill>
              <a:srgbClr val="06B6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22"/>
          <p:cNvSpPr/>
          <p:nvPr/>
        </p:nvSpPr>
        <p:spPr>
          <a:xfrm>
            <a:off x="10235579" y="3986212"/>
            <a:ext cx="228600" cy="228600"/>
          </a:xfrm>
          <a:prstGeom prst="roundRect">
            <a:avLst>
              <a:gd fmla="val 50000" name="adj"/>
            </a:avLst>
          </a:prstGeom>
          <a:solidFill>
            <a:srgbClr val="0B1120"/>
          </a:solidFill>
          <a:ln cap="flat" cmpd="sng" w="38100">
            <a:solidFill>
              <a:srgbClr val="06B6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22"/>
          <p:cNvSpPr txBox="1"/>
          <p:nvPr/>
        </p:nvSpPr>
        <p:spPr>
          <a:xfrm>
            <a:off x="4076700" y="571500"/>
            <a:ext cx="4240530" cy="581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06B6D4"/>
                </a:solidFill>
                <a:latin typeface="Space Grotesk SemiBold"/>
                <a:ea typeface="Space Grotesk SemiBold"/>
                <a:cs typeface="Space Grotesk SemiBold"/>
                <a:sym typeface="Space Grotesk SemiBold"/>
              </a:rPr>
              <a:t>Lộ trình Phát triển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120"/>
        </a:solidFill>
      </p:bgPr>
    </p:bg>
    <p:spTree>
      <p:nvGrpSpPr>
        <p:cNvPr id="206" name="Shape 206"/>
        <p:cNvGrpSpPr/>
        <p:nvPr/>
      </p:nvGrpSpPr>
      <p:grpSpPr>
        <a:xfrm>
          <a:off x="0" y="0"/>
          <a:ext cx="0" cy="0"/>
          <a:chOff x="0" y="0"/>
          <a:chExt cx="0" cy="0"/>
        </a:xfrm>
      </p:grpSpPr>
      <p:pic>
        <p:nvPicPr>
          <p:cNvPr descr="image.png" id="207" name="Google Shape;207;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8" name="Google Shape;208;p23"/>
          <p:cNvPicPr preferRelativeResize="0"/>
          <p:nvPr/>
        </p:nvPicPr>
        <p:blipFill rotWithShape="1">
          <a:blip r:embed="rId4">
            <a:alphaModFix/>
          </a:blip>
          <a:srcRect b="0" l="0" r="0" t="0"/>
          <a:stretch/>
        </p:blipFill>
        <p:spPr>
          <a:xfrm>
            <a:off x="571500" y="1834455"/>
            <a:ext cx="11049000" cy="4150965"/>
          </a:xfrm>
          <a:prstGeom prst="rect">
            <a:avLst/>
          </a:prstGeom>
          <a:noFill/>
          <a:ln>
            <a:noFill/>
          </a:ln>
        </p:spPr>
      </p:pic>
      <p:graphicFrame>
        <p:nvGraphicFramePr>
          <p:cNvPr id="209" name="Google Shape;209;p23"/>
          <p:cNvGraphicFramePr/>
          <p:nvPr/>
        </p:nvGraphicFramePr>
        <p:xfrm>
          <a:off x="581025" y="1843980"/>
          <a:ext cx="3000000" cy="3000000"/>
        </p:xfrm>
        <a:graphic>
          <a:graphicData uri="http://schemas.openxmlformats.org/drawingml/2006/table">
            <a:tbl>
              <a:tblPr bandRow="1" firstRow="1">
                <a:noFill/>
                <a:tableStyleId>{1156E357-AB2A-4833-A2B2-ECA89CCFF6B9}</a:tableStyleId>
              </a:tblPr>
              <a:tblGrid>
                <a:gridCol w="2417425"/>
                <a:gridCol w="6845650"/>
                <a:gridCol w="1766875"/>
              </a:tblGrid>
              <a:tr h="688650">
                <a:tc>
                  <a:txBody>
                    <a:bodyPr/>
                    <a:lstStyle/>
                    <a:p>
                      <a:pPr indent="0" lvl="0" marL="0" marR="0" rtl="0" algn="l">
                        <a:spcBef>
                          <a:spcPts val="0"/>
                        </a:spcBef>
                        <a:spcAft>
                          <a:spcPts val="0"/>
                        </a:spcAft>
                        <a:buNone/>
                      </a:pPr>
                      <a:r>
                        <a:rPr b="0" i="0" lang="en-US" sz="1350" u="none" cap="none" strike="noStrike">
                          <a:solidFill>
                            <a:srgbClr val="F8FAFC"/>
                          </a:solidFill>
                          <a:latin typeface="Space Grotesk SemiBold"/>
                          <a:ea typeface="Space Grotesk SemiBold"/>
                          <a:cs typeface="Space Grotesk SemiBold"/>
                          <a:sym typeface="Space Grotesk SemiBold"/>
                        </a:rPr>
                        <a:t>Hạng mục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0" i="0" lang="en-US" sz="1350" u="none" cap="none" strike="noStrike">
                          <a:solidFill>
                            <a:srgbClr val="F8FAFC"/>
                          </a:solidFill>
                          <a:latin typeface="Space Grotesk SemiBold"/>
                          <a:ea typeface="Space Grotesk SemiBold"/>
                          <a:cs typeface="Space Grotesk SemiBold"/>
                          <a:sym typeface="Space Grotesk SemiBold"/>
                        </a:rPr>
                        <a:t>Nhiệm vụ chi tiết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None/>
                      </a:pPr>
                      <a:r>
                        <a:rPr b="0" i="0" lang="en-US" sz="1350" u="none" cap="none" strike="noStrike">
                          <a:solidFill>
                            <a:srgbClr val="F8FAFC"/>
                          </a:solidFill>
                          <a:latin typeface="Space Grotesk SemiBold"/>
                          <a:ea typeface="Space Grotesk SemiBold"/>
                          <a:cs typeface="Space Grotesk SemiBold"/>
                          <a:sym typeface="Space Grotesk SemiBold"/>
                        </a:rPr>
                        <a:t>Trạng thái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0000"/>
                    </a:solidFill>
                  </a:tcPr>
                </a:tc>
              </a:tr>
              <a:tr h="688650">
                <a:tc>
                  <a:txBody>
                    <a:bodyPr/>
                    <a:lstStyle/>
                    <a:p>
                      <a:pPr indent="0" lvl="0" marL="0" marR="0" rtl="0" algn="l">
                        <a:spcBef>
                          <a:spcPts val="0"/>
                        </a:spcBef>
                        <a:spcAft>
                          <a:spcPts val="0"/>
                        </a:spcAft>
                        <a:buNone/>
                      </a:pPr>
                      <a:r>
                        <a:rPr b="0" i="0" lang="en-US" sz="1500" u="none" cap="none" strike="noStrike">
                          <a:solidFill>
                            <a:srgbClr val="94A3B8"/>
                          </a:solidFill>
                          <a:latin typeface="Inter"/>
                          <a:ea typeface="Inter"/>
                          <a:cs typeface="Inter"/>
                          <a:sym typeface="Inter"/>
                        </a:rPr>
                        <a:t>Giao diện &amp; Auth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94A3B8"/>
                          </a:solidFill>
                          <a:latin typeface="Inter"/>
                          <a:ea typeface="Inter"/>
                          <a:cs typeface="Inter"/>
                          <a:sym typeface="Inter"/>
                        </a:rPr>
                        <a:t>Tích hợp Firebase Auth, Tự động Rollback, UI Đăng nhập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88650">
                <a:tc>
                  <a:txBody>
                    <a:bodyPr/>
                    <a:lstStyle/>
                    <a:p>
                      <a:pPr indent="0" lvl="0" marL="0" marR="0" rtl="0" algn="l">
                        <a:spcBef>
                          <a:spcPts val="0"/>
                        </a:spcBef>
                        <a:spcAft>
                          <a:spcPts val="0"/>
                        </a:spcAft>
                        <a:buNone/>
                      </a:pPr>
                      <a:r>
                        <a:rPr b="0" i="0" lang="en-US" sz="1500" u="none" cap="none" strike="noStrike">
                          <a:solidFill>
                            <a:srgbClr val="94A3B8"/>
                          </a:solidFill>
                          <a:latin typeface="Inter"/>
                          <a:ea typeface="Inter"/>
                          <a:cs typeface="Inter"/>
                          <a:sym typeface="Inter"/>
                        </a:rPr>
                        <a:t>Hạ tầng Server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94A3B8"/>
                          </a:solidFill>
                          <a:latin typeface="Inter"/>
                          <a:ea typeface="Inter"/>
                          <a:cs typeface="Inter"/>
                          <a:sym typeface="Inter"/>
                        </a:rPr>
                        <a:t>Dựng Remote Server qua Tailscale VPN, Setup MySQL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88650">
                <a:tc>
                  <a:txBody>
                    <a:bodyPr/>
                    <a:lstStyle/>
                    <a:p>
                      <a:pPr indent="0" lvl="0" marL="0" marR="0" rtl="0" algn="l">
                        <a:spcBef>
                          <a:spcPts val="0"/>
                        </a:spcBef>
                        <a:spcAft>
                          <a:spcPts val="0"/>
                        </a:spcAft>
                        <a:buNone/>
                      </a:pPr>
                      <a:r>
                        <a:rPr b="0" i="0" lang="en-US" sz="1500" u="none" cap="none" strike="noStrike">
                          <a:solidFill>
                            <a:srgbClr val="94A3B8"/>
                          </a:solidFill>
                          <a:latin typeface="Inter"/>
                          <a:ea typeface="Inter"/>
                          <a:cs typeface="Inter"/>
                          <a:sym typeface="Inter"/>
                        </a:rPr>
                        <a:t>Core Chat Logic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94A3B8"/>
                          </a:solidFill>
                          <a:latin typeface="Inter"/>
                          <a:ea typeface="Inter"/>
                          <a:cs typeface="Inter"/>
                          <a:sym typeface="Inter"/>
                        </a:rPr>
                        <a:t>Thiết lập SignalR Hub, tin nhắn Real-time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88650">
                <a:tc>
                  <a:txBody>
                    <a:bodyPr/>
                    <a:lstStyle/>
                    <a:p>
                      <a:pPr indent="0" lvl="0" marL="0" marR="0" rtl="0" algn="l">
                        <a:spcBef>
                          <a:spcPts val="0"/>
                        </a:spcBef>
                        <a:spcAft>
                          <a:spcPts val="0"/>
                        </a:spcAft>
                        <a:buNone/>
                      </a:pPr>
                      <a:r>
                        <a:rPr b="0" i="0" lang="en-US" sz="1500" u="none" cap="none" strike="noStrike">
                          <a:solidFill>
                            <a:srgbClr val="94A3B8"/>
                          </a:solidFill>
                          <a:latin typeface="Inter"/>
                          <a:ea typeface="Inter"/>
                          <a:cs typeface="Inter"/>
                          <a:sym typeface="Inter"/>
                        </a:rPr>
                        <a:t>Bảo mật E2EE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94A3B8"/>
                          </a:solidFill>
                          <a:latin typeface="Inter"/>
                          <a:ea typeface="Inter"/>
                          <a:cs typeface="Inter"/>
                          <a:sym typeface="Inter"/>
                        </a:rPr>
                        <a:t>Khởi tạo RSA, Mã hóa AES Hybrid, Key Wrapping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88650">
                <a:tc>
                  <a:txBody>
                    <a:bodyPr/>
                    <a:lstStyle/>
                    <a:p>
                      <a:pPr indent="0" lvl="0" marL="0" marR="0" rtl="0" algn="l">
                        <a:spcBef>
                          <a:spcPts val="0"/>
                        </a:spcBef>
                        <a:spcAft>
                          <a:spcPts val="0"/>
                        </a:spcAft>
                        <a:buNone/>
                      </a:pPr>
                      <a:r>
                        <a:rPr lang="en-US" sz="1500">
                          <a:solidFill>
                            <a:srgbClr val="94A3B8"/>
                          </a:solidFill>
                          <a:latin typeface="Inter"/>
                          <a:ea typeface="Inter"/>
                          <a:cs typeface="Inter"/>
                          <a:sym typeface="Inter"/>
                        </a:rPr>
                        <a:t>Tin nhắn tự hủy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94A3B8"/>
                          </a:solidFill>
                          <a:latin typeface="Inter"/>
                          <a:ea typeface="Inter"/>
                          <a:cs typeface="Inter"/>
                          <a:sym typeface="Inter"/>
                        </a:rPr>
                        <a:t>Thiết lập</a:t>
                      </a:r>
                      <a:r>
                        <a:rPr lang="en-US" sz="1500">
                          <a:solidFill>
                            <a:srgbClr val="94A3B8"/>
                          </a:solidFill>
                          <a:latin typeface="Inter"/>
                          <a:ea typeface="Inter"/>
                          <a:cs typeface="Inter"/>
                          <a:sym typeface="Inter"/>
                        </a:rPr>
                        <a:t> thời gian tự hủy của tin nhắn, tính năng tự hủy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10" name="Google Shape;210;p23"/>
          <p:cNvSpPr/>
          <p:nvPr/>
        </p:nvSpPr>
        <p:spPr>
          <a:xfrm>
            <a:off x="581025" y="2494508"/>
            <a:ext cx="241741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23"/>
          <p:cNvSpPr/>
          <p:nvPr/>
        </p:nvSpPr>
        <p:spPr>
          <a:xfrm>
            <a:off x="2998440" y="2494508"/>
            <a:ext cx="684564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2" name="Google Shape;212;p23"/>
          <p:cNvSpPr/>
          <p:nvPr/>
        </p:nvSpPr>
        <p:spPr>
          <a:xfrm>
            <a:off x="9844087" y="2494508"/>
            <a:ext cx="176688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23"/>
          <p:cNvSpPr/>
          <p:nvPr/>
        </p:nvSpPr>
        <p:spPr>
          <a:xfrm>
            <a:off x="581025" y="3189833"/>
            <a:ext cx="241741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23"/>
          <p:cNvSpPr/>
          <p:nvPr/>
        </p:nvSpPr>
        <p:spPr>
          <a:xfrm>
            <a:off x="2998440" y="3189833"/>
            <a:ext cx="684564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23"/>
          <p:cNvSpPr/>
          <p:nvPr/>
        </p:nvSpPr>
        <p:spPr>
          <a:xfrm>
            <a:off x="9844087" y="3189833"/>
            <a:ext cx="176688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23"/>
          <p:cNvSpPr/>
          <p:nvPr/>
        </p:nvSpPr>
        <p:spPr>
          <a:xfrm>
            <a:off x="581025" y="3885158"/>
            <a:ext cx="241741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23"/>
          <p:cNvSpPr/>
          <p:nvPr/>
        </p:nvSpPr>
        <p:spPr>
          <a:xfrm>
            <a:off x="2998440" y="3885158"/>
            <a:ext cx="684564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3"/>
          <p:cNvSpPr/>
          <p:nvPr/>
        </p:nvSpPr>
        <p:spPr>
          <a:xfrm>
            <a:off x="9844087" y="3885158"/>
            <a:ext cx="176688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3"/>
          <p:cNvSpPr/>
          <p:nvPr/>
        </p:nvSpPr>
        <p:spPr>
          <a:xfrm>
            <a:off x="581025" y="4580483"/>
            <a:ext cx="241741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23"/>
          <p:cNvSpPr/>
          <p:nvPr/>
        </p:nvSpPr>
        <p:spPr>
          <a:xfrm>
            <a:off x="2998440" y="4580483"/>
            <a:ext cx="684564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3"/>
          <p:cNvSpPr/>
          <p:nvPr/>
        </p:nvSpPr>
        <p:spPr>
          <a:xfrm>
            <a:off x="9844087" y="4580483"/>
            <a:ext cx="176688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3"/>
          <p:cNvSpPr/>
          <p:nvPr/>
        </p:nvSpPr>
        <p:spPr>
          <a:xfrm>
            <a:off x="581025" y="5275808"/>
            <a:ext cx="2417415"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3" name="Google Shape;223;p23"/>
          <p:cNvSpPr/>
          <p:nvPr/>
        </p:nvSpPr>
        <p:spPr>
          <a:xfrm>
            <a:off x="2998440" y="5275808"/>
            <a:ext cx="684564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4" name="Google Shape;224;p23"/>
          <p:cNvSpPr/>
          <p:nvPr/>
        </p:nvSpPr>
        <p:spPr>
          <a:xfrm>
            <a:off x="9844087" y="5275808"/>
            <a:ext cx="1766887"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25" name="Google Shape;225;p23"/>
          <p:cNvPicPr preferRelativeResize="0"/>
          <p:nvPr/>
        </p:nvPicPr>
        <p:blipFill rotWithShape="1">
          <a:blip r:embed="rId5">
            <a:alphaModFix/>
          </a:blip>
          <a:srcRect b="0" l="0" r="0" t="0"/>
          <a:stretch/>
        </p:blipFill>
        <p:spPr>
          <a:xfrm>
            <a:off x="10072687" y="2727870"/>
            <a:ext cx="942975" cy="276225"/>
          </a:xfrm>
          <a:prstGeom prst="rect">
            <a:avLst/>
          </a:prstGeom>
          <a:noFill/>
          <a:ln>
            <a:noFill/>
          </a:ln>
        </p:spPr>
      </p:pic>
      <p:pic>
        <p:nvPicPr>
          <p:cNvPr descr="image.png" id="226" name="Google Shape;226;p23"/>
          <p:cNvPicPr preferRelativeResize="0"/>
          <p:nvPr/>
        </p:nvPicPr>
        <p:blipFill rotWithShape="1">
          <a:blip r:embed="rId5">
            <a:alphaModFix/>
          </a:blip>
          <a:srcRect b="0" l="0" r="0" t="0"/>
          <a:stretch/>
        </p:blipFill>
        <p:spPr>
          <a:xfrm>
            <a:off x="10072687" y="3423195"/>
            <a:ext cx="942975" cy="276225"/>
          </a:xfrm>
          <a:prstGeom prst="rect">
            <a:avLst/>
          </a:prstGeom>
          <a:noFill/>
          <a:ln>
            <a:noFill/>
          </a:ln>
        </p:spPr>
      </p:pic>
      <p:pic>
        <p:nvPicPr>
          <p:cNvPr descr="image.png" id="227" name="Google Shape;227;p23"/>
          <p:cNvPicPr preferRelativeResize="0"/>
          <p:nvPr/>
        </p:nvPicPr>
        <p:blipFill rotWithShape="1">
          <a:blip r:embed="rId6">
            <a:alphaModFix/>
          </a:blip>
          <a:srcRect b="0" l="0" r="0" t="0"/>
          <a:stretch/>
        </p:blipFill>
        <p:spPr>
          <a:xfrm>
            <a:off x="10072687" y="4118520"/>
            <a:ext cx="990600" cy="276225"/>
          </a:xfrm>
          <a:prstGeom prst="rect">
            <a:avLst/>
          </a:prstGeom>
          <a:noFill/>
          <a:ln>
            <a:noFill/>
          </a:ln>
        </p:spPr>
      </p:pic>
      <p:pic>
        <p:nvPicPr>
          <p:cNvPr descr="image.png" id="228" name="Google Shape;228;p23"/>
          <p:cNvPicPr preferRelativeResize="0"/>
          <p:nvPr/>
        </p:nvPicPr>
        <p:blipFill rotWithShape="1">
          <a:blip r:embed="rId7">
            <a:alphaModFix/>
          </a:blip>
          <a:srcRect b="0" l="0" r="0" t="0"/>
          <a:stretch/>
        </p:blipFill>
        <p:spPr>
          <a:xfrm>
            <a:off x="10072687" y="4813845"/>
            <a:ext cx="990600" cy="276225"/>
          </a:xfrm>
          <a:prstGeom prst="rect">
            <a:avLst/>
          </a:prstGeom>
          <a:noFill/>
          <a:ln>
            <a:noFill/>
          </a:ln>
        </p:spPr>
      </p:pic>
      <p:pic>
        <p:nvPicPr>
          <p:cNvPr descr="image.png" id="229" name="Google Shape;229;p23"/>
          <p:cNvPicPr preferRelativeResize="0"/>
          <p:nvPr/>
        </p:nvPicPr>
        <p:blipFill rotWithShape="1">
          <a:blip r:embed="rId8">
            <a:alphaModFix/>
          </a:blip>
          <a:srcRect b="0" l="0" r="0" t="0"/>
          <a:stretch/>
        </p:blipFill>
        <p:spPr>
          <a:xfrm>
            <a:off x="10072687" y="5509170"/>
            <a:ext cx="981075" cy="276225"/>
          </a:xfrm>
          <a:prstGeom prst="rect">
            <a:avLst/>
          </a:prstGeom>
          <a:noFill/>
          <a:ln>
            <a:noFill/>
          </a:ln>
        </p:spPr>
      </p:pic>
      <p:sp>
        <p:nvSpPr>
          <p:cNvPr id="230" name="Google Shape;230;p23"/>
          <p:cNvSpPr txBox="1"/>
          <p:nvPr/>
        </p:nvSpPr>
        <p:spPr>
          <a:xfrm>
            <a:off x="3819525" y="571500"/>
            <a:ext cx="4780597" cy="581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600" u="none" cap="none" strike="noStrike">
                <a:solidFill>
                  <a:srgbClr val="06B6D4"/>
                </a:solidFill>
                <a:latin typeface="Space Grotesk SemiBold"/>
                <a:ea typeface="Space Grotesk SemiBold"/>
                <a:cs typeface="Space Grotesk SemiBold"/>
                <a:sym typeface="Space Grotesk SemiBold"/>
              </a:rPr>
              <a:t>Trạng thái Công việc</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